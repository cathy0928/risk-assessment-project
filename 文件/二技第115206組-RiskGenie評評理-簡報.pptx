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80" r:id="rId8"/>
    <p:sldId id="275" r:id="rId9"/>
    <p:sldId id="267" r:id="rId10"/>
    <p:sldId id="268" r:id="rId11"/>
    <p:sldId id="269" r:id="rId12"/>
    <p:sldId id="276" r:id="rId13"/>
    <p:sldId id="277" r:id="rId14"/>
    <p:sldId id="282" r:id="rId15"/>
    <p:sldId id="283" r:id="rId16"/>
    <p:sldId id="278" r:id="rId17"/>
    <p:sldId id="281" r:id="rId18"/>
    <p:sldId id="27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al Unicode MS" panose="02020500000000000000" charset="-120"/>
      <p:regular r:id="rId23"/>
    </p:embeddedFont>
    <p:embeddedFont>
      <p:font typeface="Calibri (MS) Bold" panose="02020500000000000000" charset="-12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微軟正黑體" panose="020B0604030504040204" pitchFamily="34" charset="-12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78" y="110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1340885" y="5505450"/>
            <a:ext cx="5838682" cy="5855316"/>
          </a:xfrm>
          <a:custGeom>
            <a:avLst/>
            <a:gdLst/>
            <a:ahLst/>
            <a:cxnLst/>
            <a:rect l="l" t="t" r="r" b="b"/>
            <a:pathLst>
              <a:path w="5838682" h="5855316">
                <a:moveTo>
                  <a:pt x="0" y="0"/>
                </a:moveTo>
                <a:lnTo>
                  <a:pt x="5838681" y="0"/>
                </a:lnTo>
                <a:lnTo>
                  <a:pt x="5838681" y="5855316"/>
                </a:lnTo>
                <a:lnTo>
                  <a:pt x="0" y="5855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558746" y="5505450"/>
            <a:ext cx="5838682" cy="5855316"/>
          </a:xfrm>
          <a:custGeom>
            <a:avLst/>
            <a:gdLst/>
            <a:ahLst/>
            <a:cxnLst/>
            <a:rect l="l" t="t" r="r" b="b"/>
            <a:pathLst>
              <a:path w="5838682" h="5855316">
                <a:moveTo>
                  <a:pt x="5838681" y="0"/>
                </a:moveTo>
                <a:lnTo>
                  <a:pt x="0" y="0"/>
                </a:lnTo>
                <a:lnTo>
                  <a:pt x="0" y="5855316"/>
                </a:lnTo>
                <a:lnTo>
                  <a:pt x="5838681" y="5855316"/>
                </a:lnTo>
                <a:lnTo>
                  <a:pt x="583868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51880" y="3135526"/>
            <a:ext cx="13366968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10000" b="1" spc="-610" dirty="0" err="1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Risk</a:t>
            </a:r>
            <a:r>
              <a:rPr lang="en-US" sz="10000" b="1" u="none" strike="noStrike" spc="-610" dirty="0" err="1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Genie評評理</a:t>
            </a:r>
            <a:endParaRPr lang="en-US" sz="10000" b="1" u="none" strike="noStrike" spc="-61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  <a:cs typeface="王漢宗特黑體"/>
              <a:sym typeface="王漢宗特黑體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066590" y="6109475"/>
            <a:ext cx="12137548" cy="495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zh-TW" altLang="en-US" sz="2800" spc="-22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從資訊資產盤點、</a:t>
            </a:r>
            <a:r>
              <a:rPr lang="en-US" altLang="zh-TW" sz="2800" spc="-22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CIA </a:t>
            </a:r>
            <a:r>
              <a:rPr lang="zh-TW" altLang="en-US" sz="2800" spc="-22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評值到風險改善建議的決策輔助流程</a:t>
            </a:r>
            <a:endParaRPr lang="en-US" sz="2800" spc="-22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74843" y="1013927"/>
            <a:ext cx="2922953" cy="33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77627" y="7462696"/>
            <a:ext cx="3528814" cy="96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spc="-55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組別：第115206組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pc="-55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指導老師：徐國鈞老師</a:t>
            </a:r>
            <a:endParaRPr lang="en-US" sz="2799" spc="-55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47753" y="7447985"/>
            <a:ext cx="8792498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組長：11436017顏珮倪</a:t>
            </a:r>
          </a:p>
          <a:p>
            <a:pPr algn="l">
              <a:lnSpc>
                <a:spcPts val="3919"/>
              </a:lnSpc>
            </a:pPr>
            <a:r>
              <a:rPr lang="en-US" sz="2799" spc="-55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組員：11436008 林紀媗、11436010 </a:t>
            </a:r>
            <a:r>
              <a:rPr lang="en-US" sz="2799" spc="-55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李昕縈</a:t>
            </a:r>
            <a:r>
              <a:rPr lang="en-US" sz="2799" spc="-55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、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　　　11436021 黃翊甄、11436029 </a:t>
            </a:r>
            <a:r>
              <a:rPr lang="en-US" sz="2799" spc="-55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林敬芬</a:t>
            </a:r>
            <a:endParaRPr lang="en-US" sz="2799" spc="-55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33810"/>
            <a:ext cx="7108923" cy="98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目錄</a:t>
            </a:r>
            <a:endParaRPr lang="en-US" sz="6000" b="1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31902EC6-C2AE-AADA-B886-9516B5E5062E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18D95C2-A796-552E-1AF2-96F4BCE96543}"/>
              </a:ext>
            </a:extLst>
          </p:cNvPr>
          <p:cNvSpPr txBox="1"/>
          <p:nvPr/>
        </p:nvSpPr>
        <p:spPr>
          <a:xfrm>
            <a:off x="1574843" y="1013927"/>
            <a:ext cx="2922953" cy="33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8CC4BC66-C583-B331-6723-07EBB89C3DFF}"/>
              </a:ext>
            </a:extLst>
          </p:cNvPr>
          <p:cNvSpPr txBox="1"/>
          <p:nvPr/>
        </p:nvSpPr>
        <p:spPr>
          <a:xfrm>
            <a:off x="3516880" y="3352912"/>
            <a:ext cx="4255519" cy="3673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00"/>
              </a:lnSpc>
            </a:pPr>
            <a:r>
              <a:rPr lang="en-US" altLang="zh-TW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1.</a:t>
            </a:r>
            <a:r>
              <a:rPr lang="zh-TW" altLang="en-US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動機與問題</a:t>
            </a:r>
            <a:endParaRPr lang="en-US" altLang="zh-TW" sz="5000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  <a:p>
            <a:pPr>
              <a:lnSpc>
                <a:spcPts val="10000"/>
              </a:lnSpc>
            </a:pPr>
            <a:r>
              <a:rPr lang="en-US" altLang="zh-TW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2.</a:t>
            </a:r>
            <a:r>
              <a:rPr lang="zh-TW" altLang="en-US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核心設計</a:t>
            </a:r>
            <a:endParaRPr lang="en-US" altLang="zh-TW" sz="5000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  <a:p>
            <a:pPr>
              <a:lnSpc>
                <a:spcPts val="10000"/>
              </a:lnSpc>
            </a:pPr>
            <a:r>
              <a:rPr lang="en-US" altLang="zh-TW" sz="4999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3.系統</a:t>
            </a:r>
            <a:r>
              <a:rPr lang="zh-TW" altLang="en-US" sz="4999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架構</a:t>
            </a:r>
            <a:endParaRPr lang="en-US" altLang="zh-TW" sz="4999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6C63727-E425-2BEF-BC0F-10E0B97D2566}"/>
              </a:ext>
            </a:extLst>
          </p:cNvPr>
          <p:cNvSpPr txBox="1"/>
          <p:nvPr/>
        </p:nvSpPr>
        <p:spPr>
          <a:xfrm>
            <a:off x="10134600" y="3260580"/>
            <a:ext cx="3886200" cy="376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0"/>
              </a:lnSpc>
            </a:pPr>
            <a:r>
              <a:rPr lang="en-US" altLang="zh-TW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4.</a:t>
            </a:r>
            <a:r>
              <a:rPr lang="zh-TW" altLang="en-US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系統展示</a:t>
            </a:r>
            <a:endParaRPr lang="en-US" altLang="zh-TW" sz="4999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  <a:p>
            <a:pPr>
              <a:lnSpc>
                <a:spcPts val="10000"/>
              </a:lnSpc>
            </a:pPr>
            <a:r>
              <a:rPr lang="en-US" altLang="zh-TW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5.</a:t>
            </a:r>
            <a:r>
              <a:rPr lang="zh-TW" altLang="en-US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成果</a:t>
            </a:r>
            <a:endParaRPr lang="en-US" altLang="zh-TW" sz="5000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  <a:p>
            <a:pPr>
              <a:lnSpc>
                <a:spcPts val="10000"/>
              </a:lnSpc>
            </a:pPr>
            <a:r>
              <a:rPr lang="en-US" altLang="zh-TW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6.</a:t>
            </a:r>
            <a:r>
              <a:rPr lang="zh-TW" altLang="en-US" sz="5000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未來發展</a:t>
            </a:r>
            <a:endParaRPr lang="en-US" altLang="zh-TW" sz="5000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44000" y="0"/>
            <a:ext cx="10581061" cy="10611206"/>
          </a:xfrm>
          <a:custGeom>
            <a:avLst/>
            <a:gdLst/>
            <a:ahLst/>
            <a:cxnLst/>
            <a:rect l="l" t="t" r="r" b="b"/>
            <a:pathLst>
              <a:path w="10581061" h="10611206">
                <a:moveTo>
                  <a:pt x="10581061" y="0"/>
                </a:moveTo>
                <a:lnTo>
                  <a:pt x="0" y="0"/>
                </a:lnTo>
                <a:lnTo>
                  <a:pt x="0" y="10611206"/>
                </a:lnTo>
                <a:lnTo>
                  <a:pt x="10581061" y="10611206"/>
                </a:lnTo>
                <a:lnTo>
                  <a:pt x="1058106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9539" y="4610278"/>
            <a:ext cx="7108923" cy="13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1.</a:t>
            </a:r>
            <a:r>
              <a:rPr lang="zh-TW" alt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動機與問題</a:t>
            </a:r>
            <a:endParaRPr lang="en-US" sz="8000" b="1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B7780D82-4E55-95F2-0FEB-7A4DF3AAA5CE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18EAE34D-B607-3DB4-0645-A73AD45B656F}"/>
              </a:ext>
            </a:extLst>
          </p:cNvPr>
          <p:cNvSpPr txBox="1"/>
          <p:nvPr/>
        </p:nvSpPr>
        <p:spPr>
          <a:xfrm>
            <a:off x="1574843" y="1013927"/>
            <a:ext cx="2922953" cy="33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561164"/>
            <a:ext cx="10969806" cy="676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160"/>
              </a:lnSpc>
              <a:spcBef>
                <a:spcPct val="0"/>
              </a:spcBef>
            </a:pPr>
            <a:r>
              <a:rPr lang="en-US" altLang="zh-TW" sz="6000" b="1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Q</a:t>
            </a:r>
            <a:r>
              <a:rPr lang="zh-TW" altLang="en-US" sz="6000" b="1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：為什麼需要 </a:t>
            </a:r>
            <a:r>
              <a:rPr lang="en-US" sz="6000" b="1" spc="-264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RiskGenie</a:t>
            </a:r>
            <a:r>
              <a:rPr lang="zh-TW" altLang="en-US" sz="6000" b="1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評評理？</a:t>
            </a:r>
            <a:endParaRPr lang="en-US" sz="6000" b="1" spc="-264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王漢宗特黑體"/>
              <a:sym typeface="王漢宗特黑體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79F1F422-2A7C-83F7-8625-6770AB160A87}"/>
              </a:ext>
            </a:extLst>
          </p:cNvPr>
          <p:cNvSpPr/>
          <p:nvPr/>
        </p:nvSpPr>
        <p:spPr>
          <a:xfrm>
            <a:off x="2516786" y="7971763"/>
            <a:ext cx="984828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anchor="t"/>
          <a:lstStyle/>
          <a:p>
            <a:endParaRPr lang="zh-TW" altLang="en-US" dirty="0"/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309FDFBE-D263-61C9-073B-723B07DAD649}"/>
              </a:ext>
            </a:extLst>
          </p:cNvPr>
          <p:cNvSpPr txBox="1"/>
          <p:nvPr/>
        </p:nvSpPr>
        <p:spPr>
          <a:xfrm>
            <a:off x="2351708" y="7419795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7448593E-6D0B-8AB7-BBC8-98E7853F310F}"/>
              </a:ext>
            </a:extLst>
          </p:cNvPr>
          <p:cNvSpPr txBox="1"/>
          <p:nvPr/>
        </p:nvSpPr>
        <p:spPr>
          <a:xfrm>
            <a:off x="7248752" y="7419795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EE9DCBBE-2A03-B2FB-6FAB-0240B6BFC04D}"/>
              </a:ext>
            </a:extLst>
          </p:cNvPr>
          <p:cNvSpPr txBox="1"/>
          <p:nvPr/>
        </p:nvSpPr>
        <p:spPr>
          <a:xfrm>
            <a:off x="12094105" y="7419402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EBCC43C1-D71F-6401-8C7E-FD6BB6209184}"/>
              </a:ext>
            </a:extLst>
          </p:cNvPr>
          <p:cNvSpPr txBox="1"/>
          <p:nvPr/>
        </p:nvSpPr>
        <p:spPr>
          <a:xfrm>
            <a:off x="4800230" y="7419795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559AED20-AE7D-D81F-DB3D-065860B546F4}"/>
              </a:ext>
            </a:extLst>
          </p:cNvPr>
          <p:cNvSpPr txBox="1"/>
          <p:nvPr/>
        </p:nvSpPr>
        <p:spPr>
          <a:xfrm>
            <a:off x="9697275" y="7419795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64C556F3-5B4A-BBDB-F796-3EC687F1A514}"/>
              </a:ext>
            </a:extLst>
          </p:cNvPr>
          <p:cNvSpPr txBox="1"/>
          <p:nvPr/>
        </p:nvSpPr>
        <p:spPr>
          <a:xfrm>
            <a:off x="1187438" y="6238281"/>
            <a:ext cx="1996939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zh-TW" altLang="en-US" sz="3500" b="1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傳統流程：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FF8E4BF-0DAC-E7F5-55EE-21F41E56F9C6}"/>
              </a:ext>
            </a:extLst>
          </p:cNvPr>
          <p:cNvSpPr txBox="1"/>
          <p:nvPr/>
        </p:nvSpPr>
        <p:spPr>
          <a:xfrm>
            <a:off x="1223533" y="7273874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Excel 資產清冊</a:t>
            </a:r>
            <a:endParaRPr lang="zh-TW" altLang="en-US" sz="3000" dirty="0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6D8FB3B-BB27-34F0-63B8-A56FA3060C9A}"/>
              </a:ext>
            </a:extLst>
          </p:cNvPr>
          <p:cNvSpPr txBox="1"/>
          <p:nvPr/>
        </p:nvSpPr>
        <p:spPr>
          <a:xfrm>
            <a:off x="3497964" y="8195905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人工判斷</a:t>
            </a:r>
            <a:r>
              <a:rPr lang="en-US" altLang="zh-TW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CIA</a:t>
            </a:r>
            <a:endParaRPr lang="zh-TW" altLang="en-US" sz="3000" dirty="0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D5C10C9-188A-A713-BD90-7DBF1540223F}"/>
              </a:ext>
            </a:extLst>
          </p:cNvPr>
          <p:cNvSpPr txBox="1"/>
          <p:nvPr/>
        </p:nvSpPr>
        <p:spPr>
          <a:xfrm>
            <a:off x="5928404" y="7273874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人工查找漏洞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2DF43E7-7ACD-C052-92BC-DE876C073244}"/>
              </a:ext>
            </a:extLst>
          </p:cNvPr>
          <p:cNvSpPr txBox="1"/>
          <p:nvPr/>
        </p:nvSpPr>
        <p:spPr>
          <a:xfrm>
            <a:off x="8500109" y="8195905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計算風險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8A27F1A3-0117-E656-8881-11A00622EAE7}"/>
              </a:ext>
            </a:extLst>
          </p:cNvPr>
          <p:cNvSpPr txBox="1"/>
          <p:nvPr/>
        </p:nvSpPr>
        <p:spPr>
          <a:xfrm>
            <a:off x="10633275" y="7273874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尋找改善措施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F6803A06-9CD5-9669-04EC-F2C2A3577747}"/>
              </a:ext>
            </a:extLst>
          </p:cNvPr>
          <p:cNvSpPr/>
          <p:nvPr/>
        </p:nvSpPr>
        <p:spPr>
          <a:xfrm>
            <a:off x="11998506" y="3237631"/>
            <a:ext cx="5260794" cy="3534347"/>
          </a:xfrm>
          <a:custGeom>
            <a:avLst/>
            <a:gdLst/>
            <a:ahLst/>
            <a:cxnLst/>
            <a:rect l="l" t="t" r="r" b="b"/>
            <a:pathLst>
              <a:path w="7742436" h="5130130">
                <a:moveTo>
                  <a:pt x="0" y="0"/>
                </a:moveTo>
                <a:lnTo>
                  <a:pt x="7742436" y="0"/>
                </a:lnTo>
                <a:lnTo>
                  <a:pt x="7742436" y="5130130"/>
                </a:lnTo>
                <a:lnTo>
                  <a:pt x="0" y="51301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EB56F42-2495-4ED2-BF83-3EFD7EA98382}"/>
              </a:ext>
            </a:extLst>
          </p:cNvPr>
          <p:cNvSpPr txBox="1"/>
          <p:nvPr/>
        </p:nvSpPr>
        <p:spPr>
          <a:xfrm>
            <a:off x="11972659" y="3450115"/>
            <a:ext cx="5260794" cy="310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altLang="zh-TW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CIA</a:t>
            </a:r>
            <a:r>
              <a:rPr lang="zh-TW" altLang="en-US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評估仰賴經驗</a:t>
            </a:r>
          </a:p>
          <a:p>
            <a:pPr marL="457200" indent="-4572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zh-TW" altLang="en-US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資訊分散</a:t>
            </a:r>
          </a:p>
          <a:p>
            <a:pPr marL="457200" indent="-4572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zh-TW" altLang="en-US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風險判斷與資源配置的挑戰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84CFA-7D5F-D69B-0521-6E337C2B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EC4421-EAE2-92CF-BCF9-5AADF6B4074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6EA6304-9E29-CA35-5C34-883CAB45B2E5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85CBD5A-DF20-1DE0-2097-BE80D3087D00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zh-TW" alt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５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AC18A0F-9F44-BBCD-EF20-636C070C552F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5802A7D-FD29-8F03-4996-3B504153FB1B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32293F6-850D-0730-5EDC-B53AB28FAFB4}"/>
              </a:ext>
            </a:extLst>
          </p:cNvPr>
          <p:cNvSpPr txBox="1"/>
          <p:nvPr/>
        </p:nvSpPr>
        <p:spPr>
          <a:xfrm>
            <a:off x="1581150" y="3400920"/>
            <a:ext cx="15125700" cy="3060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8000"/>
              </a:lnSpc>
              <a:spcBef>
                <a:spcPct val="0"/>
              </a:spcBef>
            </a:pPr>
            <a:r>
              <a:rPr lang="en-US" altLang="zh-TW" sz="5000" spc="-264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RiskGenie</a:t>
            </a:r>
            <a:r>
              <a:rPr lang="zh-TW" altLang="en-US" sz="5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評評理：</a:t>
            </a:r>
            <a:endParaRPr lang="en-US" altLang="zh-TW" sz="5000" spc="-264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王漢宗特黑體"/>
              <a:sym typeface="王漢宗特黑體"/>
            </a:endParaRPr>
          </a:p>
          <a:p>
            <a:pPr lvl="0">
              <a:lnSpc>
                <a:spcPts val="8000"/>
              </a:lnSpc>
              <a:spcBef>
                <a:spcPct val="0"/>
              </a:spcBef>
            </a:pPr>
            <a:r>
              <a:rPr lang="zh-TW" altLang="en-US" sz="5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將資訊資產、規則式風險計算與生成式 </a:t>
            </a:r>
            <a:r>
              <a:rPr lang="en-US" altLang="zh-TW" sz="5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AI </a:t>
            </a:r>
            <a:r>
              <a:rPr lang="zh-TW" altLang="en-US" sz="5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整合於同一套流程中，讓 </a:t>
            </a:r>
            <a:r>
              <a:rPr lang="en-US" altLang="zh-TW" sz="5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AI </a:t>
            </a:r>
            <a:r>
              <a:rPr lang="zh-TW" altLang="en-US" sz="5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提供建議，但不取代人的最終判斷。</a:t>
            </a:r>
            <a:endParaRPr lang="en-US" altLang="zh-TW" sz="5000" spc="-264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王漢宗特黑體"/>
              <a:sym typeface="王漢宗特黑體"/>
            </a:endParaRPr>
          </a:p>
        </p:txBody>
      </p:sp>
    </p:spTree>
    <p:extLst>
      <p:ext uri="{BB962C8B-B14F-4D97-AF65-F5344CB8AC3E}">
        <p14:creationId xmlns:p14="http://schemas.microsoft.com/office/powerpoint/2010/main" val="277048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9900-B7B5-4F1D-46B7-615A295C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A52D22-D6F5-8025-462A-F3A42F5EA3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8A535E0-82A3-8E1D-EBC6-7F6B89D14BC4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9BAE6FE-ECE9-C24F-5DE2-D38F94C5D645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zh-TW" alt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６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2C5CF0D-B8E6-10A1-045F-618CBA845176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9FDEBE3-D48A-AF41-C461-B61721069B36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0C7F38C-7457-D9D2-420B-B70C29C42EB3}"/>
              </a:ext>
            </a:extLst>
          </p:cNvPr>
          <p:cNvSpPr/>
          <p:nvPr/>
        </p:nvSpPr>
        <p:spPr>
          <a:xfrm>
            <a:off x="4537005" y="4434349"/>
            <a:ext cx="984828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anchor="t"/>
          <a:lstStyle/>
          <a:p>
            <a:endParaRPr lang="zh-TW" altLang="en-US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77A2255-E9C6-8330-7A23-9667A1AF6705}"/>
              </a:ext>
            </a:extLst>
          </p:cNvPr>
          <p:cNvSpPr txBox="1"/>
          <p:nvPr/>
        </p:nvSpPr>
        <p:spPr>
          <a:xfrm>
            <a:off x="4371927" y="3882381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A316C893-2FCD-C264-5BA5-DC70BA1AA621}"/>
              </a:ext>
            </a:extLst>
          </p:cNvPr>
          <p:cNvSpPr txBox="1"/>
          <p:nvPr/>
        </p:nvSpPr>
        <p:spPr>
          <a:xfrm>
            <a:off x="9268971" y="3882381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5878906A-2FCC-C353-F202-A65D6FF9F699}"/>
              </a:ext>
            </a:extLst>
          </p:cNvPr>
          <p:cNvSpPr txBox="1"/>
          <p:nvPr/>
        </p:nvSpPr>
        <p:spPr>
          <a:xfrm>
            <a:off x="14166017" y="3882381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393946E8-54C8-4733-7A67-3ED31C62A9AD}"/>
              </a:ext>
            </a:extLst>
          </p:cNvPr>
          <p:cNvSpPr txBox="1"/>
          <p:nvPr/>
        </p:nvSpPr>
        <p:spPr>
          <a:xfrm>
            <a:off x="6820449" y="3882381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3227FC3-0872-CC56-800D-9A3441AF7A01}"/>
              </a:ext>
            </a:extLst>
          </p:cNvPr>
          <p:cNvSpPr txBox="1"/>
          <p:nvPr/>
        </p:nvSpPr>
        <p:spPr>
          <a:xfrm>
            <a:off x="11717494" y="3882381"/>
            <a:ext cx="330157" cy="776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7000"/>
              </a:lnSpc>
              <a:spcBef>
                <a:spcPct val="0"/>
              </a:spcBef>
            </a:pPr>
            <a:r>
              <a:rPr lang="zh-TW" altLang="en-US" sz="2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●</a:t>
            </a:r>
            <a:r>
              <a:rPr lang="zh-TW" altLang="en-US" sz="35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 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F49ED55-DFD9-AAF3-6BB0-110AB523712C}"/>
              </a:ext>
            </a:extLst>
          </p:cNvPr>
          <p:cNvSpPr txBox="1"/>
          <p:nvPr/>
        </p:nvSpPr>
        <p:spPr>
          <a:xfrm>
            <a:off x="3243752" y="3736460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資產盤點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1D576BE-D99E-F726-2D7C-966079192D7C}"/>
              </a:ext>
            </a:extLst>
          </p:cNvPr>
          <p:cNvSpPr txBox="1"/>
          <p:nvPr/>
        </p:nvSpPr>
        <p:spPr>
          <a:xfrm>
            <a:off x="5518183" y="4658491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CIA</a:t>
            </a:r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輔助建議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E25104A-ECA1-B359-116E-02D3BB6E1DB5}"/>
              </a:ext>
            </a:extLst>
          </p:cNvPr>
          <p:cNvSpPr txBox="1"/>
          <p:nvPr/>
        </p:nvSpPr>
        <p:spPr>
          <a:xfrm>
            <a:off x="7948623" y="3736460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風險評鑑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220CC81-6C33-6AC1-1793-B0C8C135B975}"/>
              </a:ext>
            </a:extLst>
          </p:cNvPr>
          <p:cNvSpPr txBox="1"/>
          <p:nvPr/>
        </p:nvSpPr>
        <p:spPr>
          <a:xfrm>
            <a:off x="10520328" y="4658491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改善建議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25348ED-070B-5079-D3F9-698C4E539996}"/>
              </a:ext>
            </a:extLst>
          </p:cNvPr>
          <p:cNvSpPr txBox="1"/>
          <p:nvPr/>
        </p:nvSpPr>
        <p:spPr>
          <a:xfrm>
            <a:off x="12653494" y="3736460"/>
            <a:ext cx="2586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dirty="0">
                <a:solidFill>
                  <a:schemeClr val="bg1"/>
                </a:solidFill>
                <a:ea typeface="微軟正黑體" panose="020B0604030504040204" pitchFamily="34" charset="-120"/>
              </a:rPr>
              <a:t>風險報表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7084E85-4B97-E18E-EBA2-509AD532A784}"/>
              </a:ext>
            </a:extLst>
          </p:cNvPr>
          <p:cNvSpPr txBox="1"/>
          <p:nvPr/>
        </p:nvSpPr>
        <p:spPr>
          <a:xfrm>
            <a:off x="1027905" y="2324100"/>
            <a:ext cx="4800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b="1" dirty="0" err="1">
                <a:solidFill>
                  <a:schemeClr val="bg1"/>
                </a:solidFill>
                <a:ea typeface="微軟正黑體" panose="020B0604030504040204" pitchFamily="34" charset="-120"/>
              </a:rPr>
              <a:t>RiskGenie</a:t>
            </a:r>
            <a:r>
              <a:rPr lang="zh-TW" altLang="en-US" sz="35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評評理的流程：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C640C68-28A4-1D25-54D2-E52599369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199315"/>
              </p:ext>
            </p:extLst>
          </p:nvPr>
        </p:nvGraphicFramePr>
        <p:xfrm>
          <a:off x="3879273" y="5964621"/>
          <a:ext cx="10972800" cy="3802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4582758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151342071"/>
                    </a:ext>
                  </a:extLst>
                </a:gridCol>
              </a:tblGrid>
              <a:tr h="84278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500" cap="none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傳統方式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cap="none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RiskGenie</a:t>
                      </a:r>
                      <a:r>
                        <a:rPr lang="zh-TW" altLang="en-US" sz="3500" cap="none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評評理</a:t>
                      </a:r>
                      <a:endParaRPr lang="en-US" altLang="zh-TW" sz="3500" cap="none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004857"/>
                  </a:ext>
                </a:extLst>
              </a:tr>
              <a:tr h="74000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人工判斷 </a:t>
                      </a:r>
                      <a:r>
                        <a:rPr lang="en-US" altLang="zh-TW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提供</a:t>
                      </a:r>
                      <a:r>
                        <a:rPr lang="en-US" altLang="zh-TW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CIA</a:t>
                      </a:r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輔助建議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9044754"/>
                  </a:ext>
                </a:extLst>
              </a:tr>
              <a:tr h="74000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人工查找漏洞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RAG</a:t>
                      </a:r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檢索相關知識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28734"/>
                  </a:ext>
                </a:extLst>
              </a:tr>
              <a:tr h="74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人工計算風險</a:t>
                      </a:r>
                      <a:endParaRPr lang="en-US" altLang="zh-TW" sz="3000" cap="non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系統依公式計算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35361"/>
                  </a:ext>
                </a:extLst>
              </a:tr>
              <a:tr h="74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人工尋找改善措施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AI </a:t>
                      </a:r>
                      <a:r>
                        <a:rPr lang="zh-TW" altLang="en-US" sz="300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</a:rPr>
                        <a:t>產生改善建議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216702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C62ED-63CA-E5B9-258B-DC82FED26785}"/>
              </a:ext>
            </a:extLst>
          </p:cNvPr>
          <p:cNvSpPr txBox="1"/>
          <p:nvPr/>
        </p:nvSpPr>
        <p:spPr>
          <a:xfrm>
            <a:off x="1027905" y="5617550"/>
            <a:ext cx="22158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5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差異：</a:t>
            </a:r>
          </a:p>
        </p:txBody>
      </p:sp>
    </p:spTree>
    <p:extLst>
      <p:ext uri="{BB962C8B-B14F-4D97-AF65-F5344CB8AC3E}">
        <p14:creationId xmlns:p14="http://schemas.microsoft.com/office/powerpoint/2010/main" val="1076502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88D5-A7DB-6C1D-C6D4-964D2688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9E6970-E72D-D69D-6F1B-758FA5972A3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D61134D-B720-E13D-0A63-8A40BC361903}"/>
              </a:ext>
            </a:extLst>
          </p:cNvPr>
          <p:cNvSpPr/>
          <p:nvPr/>
        </p:nvSpPr>
        <p:spPr>
          <a:xfrm flipH="1">
            <a:off x="9144000" y="0"/>
            <a:ext cx="10581061" cy="10611206"/>
          </a:xfrm>
          <a:custGeom>
            <a:avLst/>
            <a:gdLst/>
            <a:ahLst/>
            <a:cxnLst/>
            <a:rect l="l" t="t" r="r" b="b"/>
            <a:pathLst>
              <a:path w="10581061" h="10611206">
                <a:moveTo>
                  <a:pt x="10581061" y="0"/>
                </a:moveTo>
                <a:lnTo>
                  <a:pt x="0" y="0"/>
                </a:lnTo>
                <a:lnTo>
                  <a:pt x="0" y="10611206"/>
                </a:lnTo>
                <a:lnTo>
                  <a:pt x="10581061" y="10611206"/>
                </a:lnTo>
                <a:lnTo>
                  <a:pt x="1058106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301E711-355A-EF62-0738-9C558B782657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29697C6-18E1-11D4-946F-BF35C559E242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7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3CCC6E8-B2FE-0A12-2D9E-A50489BC305A}"/>
              </a:ext>
            </a:extLst>
          </p:cNvPr>
          <p:cNvSpPr txBox="1"/>
          <p:nvPr/>
        </p:nvSpPr>
        <p:spPr>
          <a:xfrm>
            <a:off x="5589539" y="4610278"/>
            <a:ext cx="7108923" cy="13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altLang="zh-TW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2</a:t>
            </a: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.</a:t>
            </a:r>
            <a:r>
              <a:rPr lang="zh-TW" alt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核心設計</a:t>
            </a:r>
            <a:endParaRPr lang="en-US" sz="8000" b="1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976098F7-DCF0-A9A7-292F-6F028F87B74F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5B67BEF-2AF7-CD70-3203-2C9092BB39BA}"/>
              </a:ext>
            </a:extLst>
          </p:cNvPr>
          <p:cNvSpPr txBox="1"/>
          <p:nvPr/>
        </p:nvSpPr>
        <p:spPr>
          <a:xfrm>
            <a:off x="1574843" y="1013927"/>
            <a:ext cx="2922953" cy="33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</p:spTree>
    <p:extLst>
      <p:ext uri="{BB962C8B-B14F-4D97-AF65-F5344CB8AC3E}">
        <p14:creationId xmlns:p14="http://schemas.microsoft.com/office/powerpoint/2010/main" val="399488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B2D93-E86B-A37E-A934-AB9CB5E7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C74719-5A20-82C3-211C-6E98E43D9CD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0642CB8-7DC9-77C2-99D7-1BE566B27904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738CC4B-5C54-E481-8AB4-7E0EBF1BD38A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8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C9163EE-62FF-8362-2232-698FFA655DD6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99B79A8-21DD-C465-BFE6-B603C9BB6222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DFFE6-9F24-A3D2-13C5-60BACF05D3AF}"/>
              </a:ext>
            </a:extLst>
          </p:cNvPr>
          <p:cNvSpPr txBox="1"/>
          <p:nvPr/>
        </p:nvSpPr>
        <p:spPr>
          <a:xfrm>
            <a:off x="1028700" y="2561164"/>
            <a:ext cx="10969806" cy="676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160"/>
              </a:lnSpc>
              <a:spcBef>
                <a:spcPct val="0"/>
              </a:spcBef>
            </a:pPr>
            <a:r>
              <a:rPr lang="zh-TW" altLang="en-US" sz="6000" spc="-264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核心設計</a:t>
            </a:r>
            <a:endParaRPr lang="en-US" sz="6000" spc="-264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王漢宗特黑體"/>
              <a:sym typeface="王漢宗特黑體"/>
            </a:endParaRPr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DE95D07B-7338-A1A2-A749-6D66A337915D}"/>
              </a:ext>
            </a:extLst>
          </p:cNvPr>
          <p:cNvSpPr/>
          <p:nvPr/>
        </p:nvSpPr>
        <p:spPr>
          <a:xfrm>
            <a:off x="2888665" y="3621924"/>
            <a:ext cx="12510670" cy="1703663"/>
          </a:xfrm>
          <a:custGeom>
            <a:avLst/>
            <a:gdLst/>
            <a:ahLst/>
            <a:cxnLst/>
            <a:rect l="l" t="t" r="r" b="b"/>
            <a:pathLst>
              <a:path w="7742436" h="5130130">
                <a:moveTo>
                  <a:pt x="0" y="0"/>
                </a:moveTo>
                <a:lnTo>
                  <a:pt x="7742436" y="0"/>
                </a:lnTo>
                <a:lnTo>
                  <a:pt x="7742436" y="5130130"/>
                </a:lnTo>
                <a:lnTo>
                  <a:pt x="0" y="51301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925F581-AD29-7CB8-77C8-7BD3AA0F6F51}"/>
              </a:ext>
            </a:extLst>
          </p:cNvPr>
          <p:cNvSpPr txBox="1"/>
          <p:nvPr/>
        </p:nvSpPr>
        <p:spPr>
          <a:xfrm>
            <a:off x="3145928" y="3815059"/>
            <a:ext cx="12510670" cy="132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altLang="zh-TW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AI </a:t>
            </a:r>
            <a:r>
              <a:rPr lang="zh-TW" altLang="en-US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給建議</a:t>
            </a:r>
            <a:endParaRPr lang="en-US" altLang="zh-TW" sz="4000" b="1" dirty="0">
              <a:solidFill>
                <a:schemeClr val="bg1"/>
              </a:solidFill>
              <a:ea typeface="微軟正黑體" panose="020B0604030504040204" pitchFamily="34" charset="-120"/>
            </a:endParaRPr>
          </a:p>
          <a:p>
            <a:pPr>
              <a:lnSpc>
                <a:spcPts val="5000"/>
              </a:lnSpc>
            </a:pPr>
            <a:r>
              <a:rPr lang="zh-TW" altLang="en-US" sz="3500" dirty="0">
                <a:solidFill>
                  <a:schemeClr val="bg1"/>
                </a:solidFill>
                <a:ea typeface="微軟正黑體" panose="020B0604030504040204" pitchFamily="34" charset="-120"/>
              </a:rPr>
              <a:t>依據資產描述提供 </a:t>
            </a:r>
            <a:r>
              <a:rPr lang="en-US" altLang="zh-TW" sz="3500" dirty="0">
                <a:solidFill>
                  <a:schemeClr val="bg1"/>
                </a:solidFill>
                <a:ea typeface="微軟正黑體" panose="020B0604030504040204" pitchFamily="34" charset="-120"/>
              </a:rPr>
              <a:t>CIA </a:t>
            </a:r>
            <a:r>
              <a:rPr lang="zh-TW" altLang="en-US" sz="3500" dirty="0">
                <a:solidFill>
                  <a:schemeClr val="bg1"/>
                </a:solidFill>
                <a:ea typeface="微軟正黑體" panose="020B0604030504040204" pitchFamily="34" charset="-120"/>
              </a:rPr>
              <a:t>評值參考與資安改善建議。</a:t>
            </a:r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9DC4524F-60C2-E0C3-4FF6-02A811439524}"/>
              </a:ext>
            </a:extLst>
          </p:cNvPr>
          <p:cNvSpPr/>
          <p:nvPr/>
        </p:nvSpPr>
        <p:spPr>
          <a:xfrm>
            <a:off x="2888665" y="5516245"/>
            <a:ext cx="12510670" cy="1703663"/>
          </a:xfrm>
          <a:custGeom>
            <a:avLst/>
            <a:gdLst/>
            <a:ahLst/>
            <a:cxnLst/>
            <a:rect l="l" t="t" r="r" b="b"/>
            <a:pathLst>
              <a:path w="7742436" h="5130130">
                <a:moveTo>
                  <a:pt x="0" y="0"/>
                </a:moveTo>
                <a:lnTo>
                  <a:pt x="7742436" y="0"/>
                </a:lnTo>
                <a:lnTo>
                  <a:pt x="7742436" y="5130130"/>
                </a:lnTo>
                <a:lnTo>
                  <a:pt x="0" y="51301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1373FDE-20F5-623F-5EB3-ED7351B3E6BA}"/>
              </a:ext>
            </a:extLst>
          </p:cNvPr>
          <p:cNvSpPr txBox="1"/>
          <p:nvPr/>
        </p:nvSpPr>
        <p:spPr>
          <a:xfrm>
            <a:off x="3145928" y="5709380"/>
            <a:ext cx="12510670" cy="132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000"/>
              </a:lnSpc>
            </a:pPr>
            <a:r>
              <a:rPr lang="zh-TW" altLang="en-US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規則算分</a:t>
            </a:r>
          </a:p>
          <a:p>
            <a:pPr>
              <a:lnSpc>
                <a:spcPts val="5000"/>
              </a:lnSpc>
            </a:pPr>
            <a:r>
              <a:rPr lang="zh-TW" altLang="en-US" sz="3500" dirty="0">
                <a:solidFill>
                  <a:schemeClr val="bg1"/>
                </a:solidFill>
                <a:ea typeface="微軟正黑體" panose="020B0604030504040204" pitchFamily="34" charset="-120"/>
              </a:rPr>
              <a:t>依系統定義的風險公式計算正式風險結果。</a:t>
            </a: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5B2C5B8B-5341-EAAB-C787-9DBDBC9B6295}"/>
              </a:ext>
            </a:extLst>
          </p:cNvPr>
          <p:cNvSpPr/>
          <p:nvPr/>
        </p:nvSpPr>
        <p:spPr>
          <a:xfrm>
            <a:off x="2888665" y="7422768"/>
            <a:ext cx="12510670" cy="1703663"/>
          </a:xfrm>
          <a:custGeom>
            <a:avLst/>
            <a:gdLst/>
            <a:ahLst/>
            <a:cxnLst/>
            <a:rect l="l" t="t" r="r" b="b"/>
            <a:pathLst>
              <a:path w="7742436" h="5130130">
                <a:moveTo>
                  <a:pt x="0" y="0"/>
                </a:moveTo>
                <a:lnTo>
                  <a:pt x="7742436" y="0"/>
                </a:lnTo>
                <a:lnTo>
                  <a:pt x="7742436" y="5130130"/>
                </a:lnTo>
                <a:lnTo>
                  <a:pt x="0" y="51301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514C00C-8023-A702-4BCA-4BE3FC082C0A}"/>
              </a:ext>
            </a:extLst>
          </p:cNvPr>
          <p:cNvSpPr txBox="1"/>
          <p:nvPr/>
        </p:nvSpPr>
        <p:spPr>
          <a:xfrm>
            <a:off x="3145928" y="7615903"/>
            <a:ext cx="12510670" cy="13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altLang="zh-TW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RAG </a:t>
            </a:r>
            <a:r>
              <a:rPr lang="zh-TW" altLang="en-US" sz="40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提供依據</a:t>
            </a:r>
          </a:p>
          <a:p>
            <a:pPr>
              <a:lnSpc>
                <a:spcPts val="5000"/>
              </a:lnSpc>
            </a:pPr>
            <a:r>
              <a:rPr lang="zh-TW" altLang="en-US" sz="3500" dirty="0">
                <a:solidFill>
                  <a:schemeClr val="bg1"/>
                </a:solidFill>
                <a:ea typeface="微軟正黑體" panose="020B0604030504040204" pitchFamily="34" charset="-120"/>
              </a:rPr>
              <a:t>檢索相關資安知識，作為生成改善建議的參考。</a:t>
            </a:r>
          </a:p>
        </p:txBody>
      </p:sp>
    </p:spTree>
    <p:extLst>
      <p:ext uri="{BB962C8B-B14F-4D97-AF65-F5344CB8AC3E}">
        <p14:creationId xmlns:p14="http://schemas.microsoft.com/office/powerpoint/2010/main" val="33755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44000" y="0"/>
            <a:ext cx="10581061" cy="10611206"/>
          </a:xfrm>
          <a:custGeom>
            <a:avLst/>
            <a:gdLst/>
            <a:ahLst/>
            <a:cxnLst/>
            <a:rect l="l" t="t" r="r" b="b"/>
            <a:pathLst>
              <a:path w="10581061" h="10611206">
                <a:moveTo>
                  <a:pt x="10581061" y="0"/>
                </a:moveTo>
                <a:lnTo>
                  <a:pt x="0" y="0"/>
                </a:lnTo>
                <a:lnTo>
                  <a:pt x="0" y="10611206"/>
                </a:lnTo>
                <a:lnTo>
                  <a:pt x="10581061" y="10611206"/>
                </a:lnTo>
                <a:lnTo>
                  <a:pt x="1058106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9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589539" y="4610278"/>
            <a:ext cx="7108923" cy="13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altLang="zh-TW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3</a:t>
            </a: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.系統架構</a:t>
            </a:r>
          </a:p>
        </p:txBody>
      </p:sp>
      <p:sp>
        <p:nvSpPr>
          <p:cNvPr id="8" name="Freeform 8"/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54108" y="2576679"/>
            <a:ext cx="11179784" cy="5457847"/>
          </a:xfrm>
          <a:custGeom>
            <a:avLst/>
            <a:gdLst/>
            <a:ahLst/>
            <a:cxnLst/>
            <a:rect l="l" t="t" r="r" b="b"/>
            <a:pathLst>
              <a:path w="11179784" h="5457847">
                <a:moveTo>
                  <a:pt x="0" y="0"/>
                </a:moveTo>
                <a:lnTo>
                  <a:pt x="11179784" y="0"/>
                </a:lnTo>
                <a:lnTo>
                  <a:pt x="11179784" y="5457848"/>
                </a:lnTo>
                <a:lnTo>
                  <a:pt x="0" y="5457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10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44000" y="0"/>
            <a:ext cx="10581061" cy="10611206"/>
          </a:xfrm>
          <a:custGeom>
            <a:avLst/>
            <a:gdLst/>
            <a:ahLst/>
            <a:cxnLst/>
            <a:rect l="l" t="t" r="r" b="b"/>
            <a:pathLst>
              <a:path w="10581061" h="10611206">
                <a:moveTo>
                  <a:pt x="10581061" y="0"/>
                </a:moveTo>
                <a:lnTo>
                  <a:pt x="0" y="0"/>
                </a:lnTo>
                <a:lnTo>
                  <a:pt x="0" y="10611206"/>
                </a:lnTo>
                <a:lnTo>
                  <a:pt x="10581061" y="10611206"/>
                </a:lnTo>
                <a:lnTo>
                  <a:pt x="1058106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AutoShape 4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9539" y="4610278"/>
            <a:ext cx="7108923" cy="13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altLang="zh-TW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4</a:t>
            </a: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.系統</a:t>
            </a:r>
            <a:r>
              <a:rPr lang="zh-TW" alt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展示</a:t>
            </a:r>
            <a:endParaRPr lang="en-US" sz="8000" b="1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A31FB-FA05-0452-EE9C-94CB535B5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5CC830-244E-8D51-8D28-99D76293E00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256B181-A1B3-CF72-E9EF-8BEBFDB8C5D7}"/>
              </a:ext>
            </a:extLst>
          </p:cNvPr>
          <p:cNvSpPr/>
          <p:nvPr/>
        </p:nvSpPr>
        <p:spPr>
          <a:xfrm flipH="1">
            <a:off x="9144000" y="0"/>
            <a:ext cx="10581061" cy="10611206"/>
          </a:xfrm>
          <a:custGeom>
            <a:avLst/>
            <a:gdLst/>
            <a:ahLst/>
            <a:cxnLst/>
            <a:rect l="l" t="t" r="r" b="b"/>
            <a:pathLst>
              <a:path w="10581061" h="10611206">
                <a:moveTo>
                  <a:pt x="10581061" y="0"/>
                </a:moveTo>
                <a:lnTo>
                  <a:pt x="0" y="0"/>
                </a:lnTo>
                <a:lnTo>
                  <a:pt x="0" y="10611206"/>
                </a:lnTo>
                <a:lnTo>
                  <a:pt x="10581061" y="10611206"/>
                </a:lnTo>
                <a:lnTo>
                  <a:pt x="1058106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3E26D23-6523-B710-D91C-127F7E7058F6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9DCEE15-1744-DB41-9B71-06DF426DA575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51D216C-FF5F-F80B-8BB9-8DD103D4C293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1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2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CE67887-05E9-1C7C-D7E7-5CD769B0ED3F}"/>
              </a:ext>
            </a:extLst>
          </p:cNvPr>
          <p:cNvSpPr txBox="1"/>
          <p:nvPr/>
        </p:nvSpPr>
        <p:spPr>
          <a:xfrm>
            <a:off x="5589539" y="4610278"/>
            <a:ext cx="7108923" cy="13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altLang="zh-TW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5</a:t>
            </a: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.</a:t>
            </a:r>
            <a:r>
              <a:rPr lang="zh-TW" alt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成果</a:t>
            </a:r>
            <a:endParaRPr lang="en-US" sz="8000" b="1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99E2915-92AA-34C3-C2FD-CFFAB36F722D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</p:spTree>
    <p:extLst>
      <p:ext uri="{BB962C8B-B14F-4D97-AF65-F5344CB8AC3E}">
        <p14:creationId xmlns:p14="http://schemas.microsoft.com/office/powerpoint/2010/main" val="1094167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6A71-9729-2DB2-82F7-A434F5D7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F702D0-270D-AE3C-DD65-BEACBA43525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F71F610-DB9C-B4A3-2827-B04F85FA30F8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9DADB1C-C640-9D70-1F64-0E67A6E34450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A84400-975B-48C6-448A-84F7125E5D28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13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D3CDD9E-2610-3F53-F09A-96C6BFD71370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grpSp>
        <p:nvGrpSpPr>
          <p:cNvPr id="135" name="Group 10">
            <a:extLst>
              <a:ext uri="{FF2B5EF4-FFF2-40B4-BE49-F238E27FC236}">
                <a16:creationId xmlns:a16="http://schemas.microsoft.com/office/drawing/2014/main" id="{45167DA8-5DC5-B1B6-BBE3-F01F2E1A740C}"/>
              </a:ext>
            </a:extLst>
          </p:cNvPr>
          <p:cNvGrpSpPr/>
          <p:nvPr/>
        </p:nvGrpSpPr>
        <p:grpSpPr>
          <a:xfrm>
            <a:off x="1028700" y="1961325"/>
            <a:ext cx="16609333" cy="809418"/>
            <a:chOff x="0" y="0"/>
            <a:chExt cx="22145777" cy="1079224"/>
          </a:xfrm>
        </p:grpSpPr>
        <p:sp>
          <p:nvSpPr>
            <p:cNvPr id="136" name="Freeform 11">
              <a:extLst>
                <a:ext uri="{FF2B5EF4-FFF2-40B4-BE49-F238E27FC236}">
                  <a16:creationId xmlns:a16="http://schemas.microsoft.com/office/drawing/2014/main" id="{C9BBAEC8-9131-78F9-F05A-3EA545DA66D8}"/>
                </a:ext>
              </a:extLst>
            </p:cNvPr>
            <p:cNvSpPr/>
            <p:nvPr/>
          </p:nvSpPr>
          <p:spPr>
            <a:xfrm>
              <a:off x="0" y="0"/>
              <a:ext cx="22145782" cy="1079218"/>
            </a:xfrm>
            <a:custGeom>
              <a:avLst/>
              <a:gdLst/>
              <a:ahLst/>
              <a:cxnLst/>
              <a:rect l="l" t="t" r="r" b="b"/>
              <a:pathLst>
                <a:path w="22145782" h="1079218">
                  <a:moveTo>
                    <a:pt x="0" y="0"/>
                  </a:moveTo>
                  <a:lnTo>
                    <a:pt x="22145782" y="0"/>
                  </a:lnTo>
                  <a:lnTo>
                    <a:pt x="22145782" y="1079218"/>
                  </a:lnTo>
                  <a:lnTo>
                    <a:pt x="0" y="10792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5743" b="-343930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7" name="TextBox 12">
              <a:extLst>
                <a:ext uri="{FF2B5EF4-FFF2-40B4-BE49-F238E27FC236}">
                  <a16:creationId xmlns:a16="http://schemas.microsoft.com/office/drawing/2014/main" id="{CDB12582-F22F-A378-FBF1-423310830DE7}"/>
                </a:ext>
              </a:extLst>
            </p:cNvPr>
            <p:cNvSpPr txBox="1"/>
            <p:nvPr/>
          </p:nvSpPr>
          <p:spPr>
            <a:xfrm>
              <a:off x="0" y="-76200"/>
              <a:ext cx="22145777" cy="1155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53" b="1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實驗設計：25 </a:t>
              </a:r>
              <a:r>
                <a:rPr lang="en-US" sz="4053" b="1" dirty="0" err="1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筆案例、共</a:t>
              </a:r>
              <a:r>
                <a:rPr lang="en-US" sz="4053" b="1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 75 </a:t>
              </a:r>
              <a:r>
                <a:rPr lang="en-US" sz="4053" b="1" dirty="0" err="1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次正式評值執行</a:t>
              </a:r>
              <a:endParaRPr lang="en-US" sz="4053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138" name="Group 13">
            <a:extLst>
              <a:ext uri="{FF2B5EF4-FFF2-40B4-BE49-F238E27FC236}">
                <a16:creationId xmlns:a16="http://schemas.microsoft.com/office/drawing/2014/main" id="{2822B0A6-8B6F-83E8-3271-986E74650904}"/>
              </a:ext>
            </a:extLst>
          </p:cNvPr>
          <p:cNvGrpSpPr/>
          <p:nvPr/>
        </p:nvGrpSpPr>
        <p:grpSpPr>
          <a:xfrm>
            <a:off x="1069882" y="2650890"/>
            <a:ext cx="16609333" cy="786603"/>
            <a:chOff x="0" y="0"/>
            <a:chExt cx="22145777" cy="1048804"/>
          </a:xfrm>
        </p:grpSpPr>
        <p:sp>
          <p:nvSpPr>
            <p:cNvPr id="139" name="Freeform 14">
              <a:extLst>
                <a:ext uri="{FF2B5EF4-FFF2-40B4-BE49-F238E27FC236}">
                  <a16:creationId xmlns:a16="http://schemas.microsoft.com/office/drawing/2014/main" id="{1B61F666-C2D5-92A8-51CA-49B09324FBFB}"/>
                </a:ext>
              </a:extLst>
            </p:cNvPr>
            <p:cNvSpPr/>
            <p:nvPr/>
          </p:nvSpPr>
          <p:spPr>
            <a:xfrm>
              <a:off x="0" y="0"/>
              <a:ext cx="22145782" cy="1048809"/>
            </a:xfrm>
            <a:custGeom>
              <a:avLst/>
              <a:gdLst/>
              <a:ahLst/>
              <a:cxnLst/>
              <a:rect l="l" t="t" r="r" b="b"/>
              <a:pathLst>
                <a:path w="22145782" h="1048809">
                  <a:moveTo>
                    <a:pt x="0" y="0"/>
                  </a:moveTo>
                  <a:lnTo>
                    <a:pt x="22145782" y="0"/>
                  </a:lnTo>
                  <a:lnTo>
                    <a:pt x="22145782" y="1048809"/>
                  </a:lnTo>
                  <a:lnTo>
                    <a:pt x="0" y="1048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0891" b="-341967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0" name="TextBox 15">
              <a:extLst>
                <a:ext uri="{FF2B5EF4-FFF2-40B4-BE49-F238E27FC236}">
                  <a16:creationId xmlns:a16="http://schemas.microsoft.com/office/drawing/2014/main" id="{E99047C4-ED02-50BA-F57C-19B3AC157DFF}"/>
                </a:ext>
              </a:extLst>
            </p:cNvPr>
            <p:cNvSpPr txBox="1"/>
            <p:nvPr/>
          </p:nvSpPr>
          <p:spPr>
            <a:xfrm>
              <a:off x="0" y="-38100"/>
              <a:ext cx="22145777" cy="10869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dirty="0" err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"/>
                  <a:sym typeface="Calibri (MS)"/>
                </a:rPr>
                <a:t>固定模型與提示條件，觀察輸出有效性、重複穩定性及與參考值的差異</a:t>
              </a:r>
              <a:r>
                <a:rPr lang="en-US" sz="180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"/>
                  <a:sym typeface="Calibri (MS)"/>
                </a:rPr>
                <a:t>。</a:t>
              </a:r>
            </a:p>
          </p:txBody>
        </p:sp>
      </p:grpSp>
      <p:grpSp>
        <p:nvGrpSpPr>
          <p:cNvPr id="141" name="Group 19">
            <a:extLst>
              <a:ext uri="{FF2B5EF4-FFF2-40B4-BE49-F238E27FC236}">
                <a16:creationId xmlns:a16="http://schemas.microsoft.com/office/drawing/2014/main" id="{84D77D20-51CA-B069-8163-7E180CFEA8F2}"/>
              </a:ext>
            </a:extLst>
          </p:cNvPr>
          <p:cNvGrpSpPr/>
          <p:nvPr/>
        </p:nvGrpSpPr>
        <p:grpSpPr>
          <a:xfrm>
            <a:off x="1223750" y="3638466"/>
            <a:ext cx="3500314" cy="2745343"/>
            <a:chOff x="0" y="0"/>
            <a:chExt cx="4667085" cy="3660458"/>
          </a:xfrm>
        </p:grpSpPr>
        <p:sp>
          <p:nvSpPr>
            <p:cNvPr id="142" name="Freeform 20">
              <a:extLst>
                <a:ext uri="{FF2B5EF4-FFF2-40B4-BE49-F238E27FC236}">
                  <a16:creationId xmlns:a16="http://schemas.microsoft.com/office/drawing/2014/main" id="{F2E4BBB4-E0B1-B6A8-D314-E91765B88176}"/>
                </a:ext>
              </a:extLst>
            </p:cNvPr>
            <p:cNvSpPr/>
            <p:nvPr/>
          </p:nvSpPr>
          <p:spPr>
            <a:xfrm>
              <a:off x="0" y="0"/>
              <a:ext cx="4667123" cy="3660521"/>
            </a:xfrm>
            <a:custGeom>
              <a:avLst/>
              <a:gdLst/>
              <a:ahLst/>
              <a:cxnLst/>
              <a:rect l="l" t="t" r="r" b="b"/>
              <a:pathLst>
                <a:path w="4667123" h="3660521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4057015" y="0"/>
                  </a:lnTo>
                  <a:cubicBezTo>
                    <a:pt x="4393946" y="0"/>
                    <a:pt x="4667123" y="273177"/>
                    <a:pt x="4667123" y="610108"/>
                  </a:cubicBezTo>
                  <a:lnTo>
                    <a:pt x="4667123" y="3050413"/>
                  </a:lnTo>
                  <a:cubicBezTo>
                    <a:pt x="4667123" y="3387344"/>
                    <a:pt x="4393946" y="3660521"/>
                    <a:pt x="4057015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3" name="Group 21">
            <a:extLst>
              <a:ext uri="{FF2B5EF4-FFF2-40B4-BE49-F238E27FC236}">
                <a16:creationId xmlns:a16="http://schemas.microsoft.com/office/drawing/2014/main" id="{F4A06E7C-95A3-593A-BAA8-AD3C9ED44DE1}"/>
              </a:ext>
            </a:extLst>
          </p:cNvPr>
          <p:cNvGrpSpPr/>
          <p:nvPr/>
        </p:nvGrpSpPr>
        <p:grpSpPr>
          <a:xfrm>
            <a:off x="1429652" y="4022819"/>
            <a:ext cx="3088510" cy="1125591"/>
            <a:chOff x="0" y="0"/>
            <a:chExt cx="4118013" cy="1500788"/>
          </a:xfrm>
        </p:grpSpPr>
        <p:sp>
          <p:nvSpPr>
            <p:cNvPr id="144" name="Freeform 22">
              <a:extLst>
                <a:ext uri="{FF2B5EF4-FFF2-40B4-BE49-F238E27FC236}">
                  <a16:creationId xmlns:a16="http://schemas.microsoft.com/office/drawing/2014/main" id="{201A046D-A9A5-FE3C-6B9E-B4B05D9D1D99}"/>
                </a:ext>
              </a:extLst>
            </p:cNvPr>
            <p:cNvSpPr/>
            <p:nvPr/>
          </p:nvSpPr>
          <p:spPr>
            <a:xfrm>
              <a:off x="0" y="0"/>
              <a:ext cx="4118017" cy="1500793"/>
            </a:xfrm>
            <a:custGeom>
              <a:avLst/>
              <a:gdLst/>
              <a:ahLst/>
              <a:cxnLst/>
              <a:rect l="l" t="t" r="r" b="b"/>
              <a:pathLst>
                <a:path w="4118017" h="1500793">
                  <a:moveTo>
                    <a:pt x="0" y="0"/>
                  </a:moveTo>
                  <a:lnTo>
                    <a:pt x="4118017" y="0"/>
                  </a:lnTo>
                  <a:lnTo>
                    <a:pt x="4118017" y="1500793"/>
                  </a:lnTo>
                  <a:lnTo>
                    <a:pt x="0" y="15007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65" b="-346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5" name="TextBox 23">
              <a:extLst>
                <a:ext uri="{FF2B5EF4-FFF2-40B4-BE49-F238E27FC236}">
                  <a16:creationId xmlns:a16="http://schemas.microsoft.com/office/drawing/2014/main" id="{AE1CA133-A7E7-DB31-B103-F55A5E8327AA}"/>
                </a:ext>
              </a:extLst>
            </p:cNvPr>
            <p:cNvSpPr txBox="1"/>
            <p:nvPr/>
          </p:nvSpPr>
          <p:spPr>
            <a:xfrm>
              <a:off x="0" y="-114300"/>
              <a:ext cx="4118013" cy="1615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4"/>
                </a:lnSpc>
              </a:pPr>
              <a:r>
                <a:rPr lang="en-US" sz="5103" b="1" spc="8" dirty="0">
                  <a:solidFill>
                    <a:srgbClr val="3884E8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25</a:t>
              </a:r>
            </a:p>
          </p:txBody>
        </p:sp>
      </p:grpSp>
      <p:grpSp>
        <p:nvGrpSpPr>
          <p:cNvPr id="146" name="Group 24">
            <a:extLst>
              <a:ext uri="{FF2B5EF4-FFF2-40B4-BE49-F238E27FC236}">
                <a16:creationId xmlns:a16="http://schemas.microsoft.com/office/drawing/2014/main" id="{C6C0B2B1-E73C-BAD7-7C43-F6C2524F9C84}"/>
              </a:ext>
            </a:extLst>
          </p:cNvPr>
          <p:cNvGrpSpPr/>
          <p:nvPr/>
        </p:nvGrpSpPr>
        <p:grpSpPr>
          <a:xfrm>
            <a:off x="1429652" y="5354309"/>
            <a:ext cx="3088510" cy="617706"/>
            <a:chOff x="0" y="0"/>
            <a:chExt cx="4118013" cy="823608"/>
          </a:xfrm>
        </p:grpSpPr>
        <p:sp>
          <p:nvSpPr>
            <p:cNvPr id="147" name="Freeform 25">
              <a:extLst>
                <a:ext uri="{FF2B5EF4-FFF2-40B4-BE49-F238E27FC236}">
                  <a16:creationId xmlns:a16="http://schemas.microsoft.com/office/drawing/2014/main" id="{0433F7AC-F1B3-CCD6-7B5B-D295A53B17AE}"/>
                </a:ext>
              </a:extLst>
            </p:cNvPr>
            <p:cNvSpPr/>
            <p:nvPr/>
          </p:nvSpPr>
          <p:spPr>
            <a:xfrm>
              <a:off x="0" y="0"/>
              <a:ext cx="4118017" cy="823603"/>
            </a:xfrm>
            <a:custGeom>
              <a:avLst/>
              <a:gdLst/>
              <a:ahLst/>
              <a:cxnLst/>
              <a:rect l="l" t="t" r="r" b="b"/>
              <a:pathLst>
                <a:path w="4118017" h="823603">
                  <a:moveTo>
                    <a:pt x="0" y="0"/>
                  </a:moveTo>
                  <a:lnTo>
                    <a:pt x="4118017" y="0"/>
                  </a:lnTo>
                  <a:lnTo>
                    <a:pt x="411801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4" b="-47425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8" name="TextBox 26">
              <a:extLst>
                <a:ext uri="{FF2B5EF4-FFF2-40B4-BE49-F238E27FC236}">
                  <a16:creationId xmlns:a16="http://schemas.microsoft.com/office/drawing/2014/main" id="{C5ADF087-BD06-C789-284E-21F7712F3514}"/>
                </a:ext>
              </a:extLst>
            </p:cNvPr>
            <p:cNvSpPr txBox="1"/>
            <p:nvPr/>
          </p:nvSpPr>
          <p:spPr>
            <a:xfrm>
              <a:off x="0" y="-47625"/>
              <a:ext cx="4118013" cy="871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400" b="1" dirty="0" err="1">
                  <a:solidFill>
                    <a:srgbClr val="13304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建構測試案例</a:t>
              </a:r>
              <a:endParaRPr lang="en-US" sz="2400" b="1" dirty="0">
                <a:solidFill>
                  <a:srgbClr val="1330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149" name="Group 27">
            <a:extLst>
              <a:ext uri="{FF2B5EF4-FFF2-40B4-BE49-F238E27FC236}">
                <a16:creationId xmlns:a16="http://schemas.microsoft.com/office/drawing/2014/main" id="{48C158AF-63A0-8A7F-775C-AE7F2CF3BB75}"/>
              </a:ext>
            </a:extLst>
          </p:cNvPr>
          <p:cNvGrpSpPr/>
          <p:nvPr/>
        </p:nvGrpSpPr>
        <p:grpSpPr>
          <a:xfrm>
            <a:off x="7400770" y="3638466"/>
            <a:ext cx="3500314" cy="2745343"/>
            <a:chOff x="0" y="0"/>
            <a:chExt cx="4667085" cy="3660458"/>
          </a:xfrm>
        </p:grpSpPr>
        <p:sp>
          <p:nvSpPr>
            <p:cNvPr id="150" name="Freeform 28">
              <a:extLst>
                <a:ext uri="{FF2B5EF4-FFF2-40B4-BE49-F238E27FC236}">
                  <a16:creationId xmlns:a16="http://schemas.microsoft.com/office/drawing/2014/main" id="{9B06D3A3-4649-B359-6D38-3105BBA3B6B6}"/>
                </a:ext>
              </a:extLst>
            </p:cNvPr>
            <p:cNvSpPr/>
            <p:nvPr/>
          </p:nvSpPr>
          <p:spPr>
            <a:xfrm>
              <a:off x="0" y="0"/>
              <a:ext cx="4667123" cy="3660521"/>
            </a:xfrm>
            <a:custGeom>
              <a:avLst/>
              <a:gdLst/>
              <a:ahLst/>
              <a:cxnLst/>
              <a:rect l="l" t="t" r="r" b="b"/>
              <a:pathLst>
                <a:path w="4667123" h="3660521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4057015" y="0"/>
                  </a:lnTo>
                  <a:cubicBezTo>
                    <a:pt x="4393946" y="0"/>
                    <a:pt x="4667123" y="273177"/>
                    <a:pt x="4667123" y="610108"/>
                  </a:cubicBezTo>
                  <a:lnTo>
                    <a:pt x="4667123" y="3050413"/>
                  </a:lnTo>
                  <a:cubicBezTo>
                    <a:pt x="4667123" y="3387344"/>
                    <a:pt x="4393946" y="3660521"/>
                    <a:pt x="4057015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1" name="Group 29">
            <a:extLst>
              <a:ext uri="{FF2B5EF4-FFF2-40B4-BE49-F238E27FC236}">
                <a16:creationId xmlns:a16="http://schemas.microsoft.com/office/drawing/2014/main" id="{D7696AD4-6771-D44A-D2EA-70975178CF80}"/>
              </a:ext>
            </a:extLst>
          </p:cNvPr>
          <p:cNvGrpSpPr/>
          <p:nvPr/>
        </p:nvGrpSpPr>
        <p:grpSpPr>
          <a:xfrm>
            <a:off x="7606672" y="4022819"/>
            <a:ext cx="3088510" cy="1125588"/>
            <a:chOff x="0" y="0"/>
            <a:chExt cx="4118013" cy="1500784"/>
          </a:xfrm>
        </p:grpSpPr>
        <p:sp>
          <p:nvSpPr>
            <p:cNvPr id="152" name="Freeform 30">
              <a:extLst>
                <a:ext uri="{FF2B5EF4-FFF2-40B4-BE49-F238E27FC236}">
                  <a16:creationId xmlns:a16="http://schemas.microsoft.com/office/drawing/2014/main" id="{00E684A7-78AD-5D41-6AAA-3FAE6527D430}"/>
                </a:ext>
              </a:extLst>
            </p:cNvPr>
            <p:cNvSpPr/>
            <p:nvPr/>
          </p:nvSpPr>
          <p:spPr>
            <a:xfrm>
              <a:off x="0" y="0"/>
              <a:ext cx="4118017" cy="1500789"/>
            </a:xfrm>
            <a:custGeom>
              <a:avLst/>
              <a:gdLst/>
              <a:ahLst/>
              <a:cxnLst/>
              <a:rect l="l" t="t" r="r" b="b"/>
              <a:pathLst>
                <a:path w="4118017" h="1500789">
                  <a:moveTo>
                    <a:pt x="0" y="0"/>
                  </a:moveTo>
                  <a:lnTo>
                    <a:pt x="4118017" y="0"/>
                  </a:lnTo>
                  <a:lnTo>
                    <a:pt x="4118017" y="1500789"/>
                  </a:lnTo>
                  <a:lnTo>
                    <a:pt x="0" y="15007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65" b="-346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3" name="TextBox 31">
              <a:extLst>
                <a:ext uri="{FF2B5EF4-FFF2-40B4-BE49-F238E27FC236}">
                  <a16:creationId xmlns:a16="http://schemas.microsoft.com/office/drawing/2014/main" id="{B5494F54-AE5C-416B-EF77-FB2B5CF9E524}"/>
                </a:ext>
              </a:extLst>
            </p:cNvPr>
            <p:cNvSpPr txBox="1"/>
            <p:nvPr/>
          </p:nvSpPr>
          <p:spPr>
            <a:xfrm>
              <a:off x="0" y="-114300"/>
              <a:ext cx="4118013" cy="1615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4"/>
                </a:lnSpc>
              </a:pPr>
              <a:r>
                <a:rPr lang="en-US" sz="5103" b="1" dirty="0">
                  <a:solidFill>
                    <a:srgbClr val="3884E8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× 3</a:t>
              </a:r>
            </a:p>
          </p:txBody>
        </p:sp>
      </p:grpSp>
      <p:grpSp>
        <p:nvGrpSpPr>
          <p:cNvPr id="154" name="Group 32">
            <a:extLst>
              <a:ext uri="{FF2B5EF4-FFF2-40B4-BE49-F238E27FC236}">
                <a16:creationId xmlns:a16="http://schemas.microsoft.com/office/drawing/2014/main" id="{E18B9388-EB9E-57EE-9455-9C0A36113719}"/>
              </a:ext>
            </a:extLst>
          </p:cNvPr>
          <p:cNvGrpSpPr/>
          <p:nvPr/>
        </p:nvGrpSpPr>
        <p:grpSpPr>
          <a:xfrm>
            <a:off x="7606672" y="5354309"/>
            <a:ext cx="3088510" cy="617706"/>
            <a:chOff x="0" y="0"/>
            <a:chExt cx="4118013" cy="823608"/>
          </a:xfrm>
        </p:grpSpPr>
        <p:sp>
          <p:nvSpPr>
            <p:cNvPr id="155" name="Freeform 33">
              <a:extLst>
                <a:ext uri="{FF2B5EF4-FFF2-40B4-BE49-F238E27FC236}">
                  <a16:creationId xmlns:a16="http://schemas.microsoft.com/office/drawing/2014/main" id="{7807C5FC-7665-7C2F-411E-DC0C135927EB}"/>
                </a:ext>
              </a:extLst>
            </p:cNvPr>
            <p:cNvSpPr/>
            <p:nvPr/>
          </p:nvSpPr>
          <p:spPr>
            <a:xfrm>
              <a:off x="0" y="0"/>
              <a:ext cx="4118017" cy="823603"/>
            </a:xfrm>
            <a:custGeom>
              <a:avLst/>
              <a:gdLst/>
              <a:ahLst/>
              <a:cxnLst/>
              <a:rect l="l" t="t" r="r" b="b"/>
              <a:pathLst>
                <a:path w="4118017" h="823603">
                  <a:moveTo>
                    <a:pt x="0" y="0"/>
                  </a:moveTo>
                  <a:lnTo>
                    <a:pt x="4118017" y="0"/>
                  </a:lnTo>
                  <a:lnTo>
                    <a:pt x="411801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4" b="-47425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6" name="TextBox 34">
              <a:extLst>
                <a:ext uri="{FF2B5EF4-FFF2-40B4-BE49-F238E27FC236}">
                  <a16:creationId xmlns:a16="http://schemas.microsoft.com/office/drawing/2014/main" id="{9107A2BF-C3D8-F00A-DFF5-A8FBEC2449D7}"/>
                </a:ext>
              </a:extLst>
            </p:cNvPr>
            <p:cNvSpPr txBox="1"/>
            <p:nvPr/>
          </p:nvSpPr>
          <p:spPr>
            <a:xfrm>
              <a:off x="0" y="-47625"/>
              <a:ext cx="4118013" cy="871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400" b="1" dirty="0" err="1">
                  <a:solidFill>
                    <a:srgbClr val="13304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每筆重複執行</a:t>
              </a:r>
              <a:endParaRPr lang="en-US" sz="2400" b="1" dirty="0">
                <a:solidFill>
                  <a:srgbClr val="1330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157" name="Group 35">
            <a:extLst>
              <a:ext uri="{FF2B5EF4-FFF2-40B4-BE49-F238E27FC236}">
                <a16:creationId xmlns:a16="http://schemas.microsoft.com/office/drawing/2014/main" id="{4D1ABD2C-6125-82FB-3CE3-C05B7CAB16A4}"/>
              </a:ext>
            </a:extLst>
          </p:cNvPr>
          <p:cNvGrpSpPr/>
          <p:nvPr/>
        </p:nvGrpSpPr>
        <p:grpSpPr>
          <a:xfrm>
            <a:off x="13577799" y="3638466"/>
            <a:ext cx="3500314" cy="2745343"/>
            <a:chOff x="0" y="0"/>
            <a:chExt cx="4667085" cy="3660458"/>
          </a:xfrm>
        </p:grpSpPr>
        <p:sp>
          <p:nvSpPr>
            <p:cNvPr id="158" name="Freeform 36">
              <a:extLst>
                <a:ext uri="{FF2B5EF4-FFF2-40B4-BE49-F238E27FC236}">
                  <a16:creationId xmlns:a16="http://schemas.microsoft.com/office/drawing/2014/main" id="{A473C248-0178-0E47-7918-809F64E763EC}"/>
                </a:ext>
              </a:extLst>
            </p:cNvPr>
            <p:cNvSpPr/>
            <p:nvPr/>
          </p:nvSpPr>
          <p:spPr>
            <a:xfrm>
              <a:off x="0" y="0"/>
              <a:ext cx="4667123" cy="3660521"/>
            </a:xfrm>
            <a:custGeom>
              <a:avLst/>
              <a:gdLst/>
              <a:ahLst/>
              <a:cxnLst/>
              <a:rect l="l" t="t" r="r" b="b"/>
              <a:pathLst>
                <a:path w="4667123" h="3660521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4057015" y="0"/>
                  </a:lnTo>
                  <a:cubicBezTo>
                    <a:pt x="4393946" y="0"/>
                    <a:pt x="4667123" y="273177"/>
                    <a:pt x="4667123" y="610108"/>
                  </a:cubicBezTo>
                  <a:lnTo>
                    <a:pt x="4667123" y="3050413"/>
                  </a:lnTo>
                  <a:cubicBezTo>
                    <a:pt x="4667123" y="3387344"/>
                    <a:pt x="4393946" y="3660521"/>
                    <a:pt x="4057015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9" name="Group 37">
            <a:extLst>
              <a:ext uri="{FF2B5EF4-FFF2-40B4-BE49-F238E27FC236}">
                <a16:creationId xmlns:a16="http://schemas.microsoft.com/office/drawing/2014/main" id="{FD4E34EA-3BEB-B727-7516-DF7126BF348A}"/>
              </a:ext>
            </a:extLst>
          </p:cNvPr>
          <p:cNvGrpSpPr/>
          <p:nvPr/>
        </p:nvGrpSpPr>
        <p:grpSpPr>
          <a:xfrm>
            <a:off x="13783701" y="4022819"/>
            <a:ext cx="3088510" cy="1125591"/>
            <a:chOff x="0" y="0"/>
            <a:chExt cx="4118013" cy="1500788"/>
          </a:xfrm>
        </p:grpSpPr>
        <p:sp>
          <p:nvSpPr>
            <p:cNvPr id="160" name="Freeform 38">
              <a:extLst>
                <a:ext uri="{FF2B5EF4-FFF2-40B4-BE49-F238E27FC236}">
                  <a16:creationId xmlns:a16="http://schemas.microsoft.com/office/drawing/2014/main" id="{5C2C2DA8-70BD-B69B-6518-591AC46FE443}"/>
                </a:ext>
              </a:extLst>
            </p:cNvPr>
            <p:cNvSpPr/>
            <p:nvPr/>
          </p:nvSpPr>
          <p:spPr>
            <a:xfrm>
              <a:off x="0" y="0"/>
              <a:ext cx="4118017" cy="1500793"/>
            </a:xfrm>
            <a:custGeom>
              <a:avLst/>
              <a:gdLst/>
              <a:ahLst/>
              <a:cxnLst/>
              <a:rect l="l" t="t" r="r" b="b"/>
              <a:pathLst>
                <a:path w="4118017" h="1500793">
                  <a:moveTo>
                    <a:pt x="0" y="0"/>
                  </a:moveTo>
                  <a:lnTo>
                    <a:pt x="4118017" y="0"/>
                  </a:lnTo>
                  <a:lnTo>
                    <a:pt x="4118017" y="1500793"/>
                  </a:lnTo>
                  <a:lnTo>
                    <a:pt x="0" y="15007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65" b="-346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1" name="TextBox 39">
              <a:extLst>
                <a:ext uri="{FF2B5EF4-FFF2-40B4-BE49-F238E27FC236}">
                  <a16:creationId xmlns:a16="http://schemas.microsoft.com/office/drawing/2014/main" id="{4826FC9B-456C-0BF1-9C85-7EF4DD5267E7}"/>
                </a:ext>
              </a:extLst>
            </p:cNvPr>
            <p:cNvSpPr txBox="1"/>
            <p:nvPr/>
          </p:nvSpPr>
          <p:spPr>
            <a:xfrm>
              <a:off x="0" y="-114300"/>
              <a:ext cx="4118013" cy="1615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4"/>
                </a:lnSpc>
              </a:pPr>
              <a:r>
                <a:rPr lang="en-US" sz="5103" b="1" spc="8" dirty="0">
                  <a:solidFill>
                    <a:srgbClr val="1CB9B1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75</a:t>
              </a:r>
            </a:p>
          </p:txBody>
        </p:sp>
      </p:grpSp>
      <p:grpSp>
        <p:nvGrpSpPr>
          <p:cNvPr id="162" name="Group 40">
            <a:extLst>
              <a:ext uri="{FF2B5EF4-FFF2-40B4-BE49-F238E27FC236}">
                <a16:creationId xmlns:a16="http://schemas.microsoft.com/office/drawing/2014/main" id="{2B827B16-8C3C-291B-B752-B32D900EEA59}"/>
              </a:ext>
            </a:extLst>
          </p:cNvPr>
          <p:cNvGrpSpPr/>
          <p:nvPr/>
        </p:nvGrpSpPr>
        <p:grpSpPr>
          <a:xfrm>
            <a:off x="13783701" y="5354309"/>
            <a:ext cx="3088510" cy="617706"/>
            <a:chOff x="0" y="0"/>
            <a:chExt cx="4118013" cy="823608"/>
          </a:xfrm>
        </p:grpSpPr>
        <p:sp>
          <p:nvSpPr>
            <p:cNvPr id="163" name="Freeform 41">
              <a:extLst>
                <a:ext uri="{FF2B5EF4-FFF2-40B4-BE49-F238E27FC236}">
                  <a16:creationId xmlns:a16="http://schemas.microsoft.com/office/drawing/2014/main" id="{C11D87CC-EA15-A515-9B8D-5EE8D46503FF}"/>
                </a:ext>
              </a:extLst>
            </p:cNvPr>
            <p:cNvSpPr/>
            <p:nvPr/>
          </p:nvSpPr>
          <p:spPr>
            <a:xfrm>
              <a:off x="0" y="0"/>
              <a:ext cx="4118017" cy="823603"/>
            </a:xfrm>
            <a:custGeom>
              <a:avLst/>
              <a:gdLst/>
              <a:ahLst/>
              <a:cxnLst/>
              <a:rect l="l" t="t" r="r" b="b"/>
              <a:pathLst>
                <a:path w="4118017" h="823603">
                  <a:moveTo>
                    <a:pt x="0" y="0"/>
                  </a:moveTo>
                  <a:lnTo>
                    <a:pt x="4118017" y="0"/>
                  </a:lnTo>
                  <a:lnTo>
                    <a:pt x="411801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4" b="-47425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4" name="TextBox 42">
              <a:extLst>
                <a:ext uri="{FF2B5EF4-FFF2-40B4-BE49-F238E27FC236}">
                  <a16:creationId xmlns:a16="http://schemas.microsoft.com/office/drawing/2014/main" id="{67B2985F-03C4-B928-2855-D003ED0A284C}"/>
                </a:ext>
              </a:extLst>
            </p:cNvPr>
            <p:cNvSpPr txBox="1"/>
            <p:nvPr/>
          </p:nvSpPr>
          <p:spPr>
            <a:xfrm>
              <a:off x="0" y="-47625"/>
              <a:ext cx="4118013" cy="871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400" b="1" dirty="0" err="1">
                  <a:solidFill>
                    <a:srgbClr val="13304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正式評值執行</a:t>
              </a:r>
              <a:endParaRPr lang="en-US" sz="2400" b="1" dirty="0">
                <a:solidFill>
                  <a:srgbClr val="1330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165" name="Group 43">
            <a:extLst>
              <a:ext uri="{FF2B5EF4-FFF2-40B4-BE49-F238E27FC236}">
                <a16:creationId xmlns:a16="http://schemas.microsoft.com/office/drawing/2014/main" id="{563C9712-4BB4-474A-FA21-0DD09D688060}"/>
              </a:ext>
            </a:extLst>
          </p:cNvPr>
          <p:cNvGrpSpPr/>
          <p:nvPr/>
        </p:nvGrpSpPr>
        <p:grpSpPr>
          <a:xfrm>
            <a:off x="5067231" y="4530701"/>
            <a:ext cx="1715843" cy="686333"/>
            <a:chOff x="0" y="0"/>
            <a:chExt cx="2287791" cy="915111"/>
          </a:xfrm>
        </p:grpSpPr>
        <p:sp>
          <p:nvSpPr>
            <p:cNvPr id="166" name="Freeform 44">
              <a:extLst>
                <a:ext uri="{FF2B5EF4-FFF2-40B4-BE49-F238E27FC236}">
                  <a16:creationId xmlns:a16="http://schemas.microsoft.com/office/drawing/2014/main" id="{DFE7C7C1-F9F7-2E18-F470-230654A91114}"/>
                </a:ext>
              </a:extLst>
            </p:cNvPr>
            <p:cNvSpPr/>
            <p:nvPr/>
          </p:nvSpPr>
          <p:spPr>
            <a:xfrm>
              <a:off x="0" y="0"/>
              <a:ext cx="2287787" cy="915115"/>
            </a:xfrm>
            <a:custGeom>
              <a:avLst/>
              <a:gdLst/>
              <a:ahLst/>
              <a:cxnLst/>
              <a:rect l="l" t="t" r="r" b="b"/>
              <a:pathLst>
                <a:path w="2287787" h="915115">
                  <a:moveTo>
                    <a:pt x="0" y="0"/>
                  </a:moveTo>
                  <a:lnTo>
                    <a:pt x="2287787" y="0"/>
                  </a:lnTo>
                  <a:lnTo>
                    <a:pt x="2287787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7" name="TextBox 45">
              <a:extLst>
                <a:ext uri="{FF2B5EF4-FFF2-40B4-BE49-F238E27FC236}">
                  <a16:creationId xmlns:a16="http://schemas.microsoft.com/office/drawing/2014/main" id="{634AB8ED-E77F-D955-B509-EA068F47BF3E}"/>
                </a:ext>
              </a:extLst>
            </p:cNvPr>
            <p:cNvSpPr txBox="1"/>
            <p:nvPr/>
          </p:nvSpPr>
          <p:spPr>
            <a:xfrm>
              <a:off x="0" y="-76200"/>
              <a:ext cx="2287791" cy="9913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3"/>
                </a:lnSpc>
              </a:pPr>
              <a:r>
                <a:rPr lang="en-US" sz="3752" b="1">
                  <a:solidFill>
                    <a:srgbClr val="1CB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id="168" name="Group 46">
            <a:extLst>
              <a:ext uri="{FF2B5EF4-FFF2-40B4-BE49-F238E27FC236}">
                <a16:creationId xmlns:a16="http://schemas.microsoft.com/office/drawing/2014/main" id="{6838131C-21BB-5AE2-E7B5-35C03D21A0FC}"/>
              </a:ext>
            </a:extLst>
          </p:cNvPr>
          <p:cNvGrpSpPr/>
          <p:nvPr/>
        </p:nvGrpSpPr>
        <p:grpSpPr>
          <a:xfrm>
            <a:off x="11244260" y="4530701"/>
            <a:ext cx="1715843" cy="756517"/>
            <a:chOff x="0" y="0"/>
            <a:chExt cx="2287791" cy="1008689"/>
          </a:xfrm>
        </p:grpSpPr>
        <p:sp>
          <p:nvSpPr>
            <p:cNvPr id="169" name="Freeform 47">
              <a:extLst>
                <a:ext uri="{FF2B5EF4-FFF2-40B4-BE49-F238E27FC236}">
                  <a16:creationId xmlns:a16="http://schemas.microsoft.com/office/drawing/2014/main" id="{9A0BE056-C19C-025B-0B1E-1B323ABEF4B4}"/>
                </a:ext>
              </a:extLst>
            </p:cNvPr>
            <p:cNvSpPr/>
            <p:nvPr/>
          </p:nvSpPr>
          <p:spPr>
            <a:xfrm>
              <a:off x="0" y="0"/>
              <a:ext cx="2287787" cy="1008693"/>
            </a:xfrm>
            <a:custGeom>
              <a:avLst/>
              <a:gdLst/>
              <a:ahLst/>
              <a:cxnLst/>
              <a:rect l="l" t="t" r="r" b="b"/>
              <a:pathLst>
                <a:path w="2287787" h="1008693">
                  <a:moveTo>
                    <a:pt x="0" y="0"/>
                  </a:moveTo>
                  <a:lnTo>
                    <a:pt x="2287787" y="0"/>
                  </a:lnTo>
                  <a:lnTo>
                    <a:pt x="2287787" y="1008693"/>
                  </a:lnTo>
                  <a:lnTo>
                    <a:pt x="0" y="10086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r="-1321" b="9277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0" name="TextBox 48">
              <a:extLst>
                <a:ext uri="{FF2B5EF4-FFF2-40B4-BE49-F238E27FC236}">
                  <a16:creationId xmlns:a16="http://schemas.microsoft.com/office/drawing/2014/main" id="{D2782DD4-8855-BD71-323A-FFD0F0634C2C}"/>
                </a:ext>
              </a:extLst>
            </p:cNvPr>
            <p:cNvSpPr txBox="1"/>
            <p:nvPr/>
          </p:nvSpPr>
          <p:spPr>
            <a:xfrm>
              <a:off x="0" y="-76200"/>
              <a:ext cx="2287791" cy="1084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3"/>
                </a:lnSpc>
              </a:pPr>
              <a:r>
                <a:rPr lang="en-US" sz="3752" b="1" spc="6">
                  <a:solidFill>
                    <a:srgbClr val="1CB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=</a:t>
              </a:r>
            </a:p>
          </p:txBody>
        </p:sp>
      </p:grpSp>
      <p:grpSp>
        <p:nvGrpSpPr>
          <p:cNvPr id="171" name="Group 49">
            <a:extLst>
              <a:ext uri="{FF2B5EF4-FFF2-40B4-BE49-F238E27FC236}">
                <a16:creationId xmlns:a16="http://schemas.microsoft.com/office/drawing/2014/main" id="{943F3E4F-0A59-10A0-0CFB-46CB683A4E37}"/>
              </a:ext>
            </a:extLst>
          </p:cNvPr>
          <p:cNvGrpSpPr/>
          <p:nvPr/>
        </p:nvGrpSpPr>
        <p:grpSpPr>
          <a:xfrm>
            <a:off x="1223750" y="7001515"/>
            <a:ext cx="4872990" cy="1304039"/>
            <a:chOff x="0" y="0"/>
            <a:chExt cx="6497320" cy="1738719"/>
          </a:xfrm>
        </p:grpSpPr>
        <p:sp>
          <p:nvSpPr>
            <p:cNvPr id="172" name="Freeform 50">
              <a:extLst>
                <a:ext uri="{FF2B5EF4-FFF2-40B4-BE49-F238E27FC236}">
                  <a16:creationId xmlns:a16="http://schemas.microsoft.com/office/drawing/2014/main" id="{D90FB46F-0838-18F7-45A1-F9D0A5C2E6E7}"/>
                </a:ext>
              </a:extLst>
            </p:cNvPr>
            <p:cNvSpPr/>
            <p:nvPr/>
          </p:nvSpPr>
          <p:spPr>
            <a:xfrm>
              <a:off x="0" y="0"/>
              <a:ext cx="6497320" cy="1738757"/>
            </a:xfrm>
            <a:custGeom>
              <a:avLst/>
              <a:gdLst/>
              <a:ahLst/>
              <a:cxnLst/>
              <a:rect l="l" t="t" r="r" b="b"/>
              <a:pathLst>
                <a:path w="649732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6207506" y="0"/>
                  </a:lnTo>
                  <a:cubicBezTo>
                    <a:pt x="6367526" y="0"/>
                    <a:pt x="6497320" y="129794"/>
                    <a:pt x="6497320" y="289814"/>
                  </a:cubicBezTo>
                  <a:lnTo>
                    <a:pt x="6497320" y="1448943"/>
                  </a:lnTo>
                  <a:cubicBezTo>
                    <a:pt x="6497320" y="1608963"/>
                    <a:pt x="6367526" y="1738757"/>
                    <a:pt x="6207506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6F1FB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73" name="Group 51">
            <a:extLst>
              <a:ext uri="{FF2B5EF4-FFF2-40B4-BE49-F238E27FC236}">
                <a16:creationId xmlns:a16="http://schemas.microsoft.com/office/drawing/2014/main" id="{E388FF3B-CB6F-D3E6-2A4A-55BCA5FC086C}"/>
              </a:ext>
            </a:extLst>
          </p:cNvPr>
          <p:cNvGrpSpPr/>
          <p:nvPr/>
        </p:nvGrpSpPr>
        <p:grpSpPr>
          <a:xfrm>
            <a:off x="1443378" y="7111329"/>
            <a:ext cx="1784471" cy="384353"/>
            <a:chOff x="0" y="0"/>
            <a:chExt cx="2379294" cy="512470"/>
          </a:xfrm>
        </p:grpSpPr>
        <p:sp>
          <p:nvSpPr>
            <p:cNvPr id="174" name="Freeform 52">
              <a:extLst>
                <a:ext uri="{FF2B5EF4-FFF2-40B4-BE49-F238E27FC236}">
                  <a16:creationId xmlns:a16="http://schemas.microsoft.com/office/drawing/2014/main" id="{B118A2DA-3BC7-ADC9-7AD1-DD4D514BE151}"/>
                </a:ext>
              </a:extLst>
            </p:cNvPr>
            <p:cNvSpPr/>
            <p:nvPr/>
          </p:nvSpPr>
          <p:spPr>
            <a:xfrm>
              <a:off x="0" y="0"/>
              <a:ext cx="2379299" cy="512464"/>
            </a:xfrm>
            <a:custGeom>
              <a:avLst/>
              <a:gdLst/>
              <a:ahLst/>
              <a:cxnLst/>
              <a:rect l="l" t="t" r="r" b="b"/>
              <a:pathLst>
                <a:path w="2379299" h="512464">
                  <a:moveTo>
                    <a:pt x="0" y="0"/>
                  </a:moveTo>
                  <a:lnTo>
                    <a:pt x="2379299" y="0"/>
                  </a:lnTo>
                  <a:lnTo>
                    <a:pt x="237929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465" b="-4046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5" name="TextBox 53">
              <a:extLst>
                <a:ext uri="{FF2B5EF4-FFF2-40B4-BE49-F238E27FC236}">
                  <a16:creationId xmlns:a16="http://schemas.microsoft.com/office/drawing/2014/main" id="{29F50AD8-99D8-5AA0-45AD-4BD31FC72CFE}"/>
                </a:ext>
              </a:extLst>
            </p:cNvPr>
            <p:cNvSpPr txBox="1"/>
            <p:nvPr/>
          </p:nvSpPr>
          <p:spPr>
            <a:xfrm>
              <a:off x="0" y="-38100"/>
              <a:ext cx="2379294" cy="5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00"/>
                </a:lnSpc>
              </a:pPr>
              <a:r>
                <a:rPr lang="en-US" b="1" dirty="0" err="1">
                  <a:solidFill>
                    <a:srgbClr val="3884E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模型</a:t>
              </a:r>
              <a:endParaRPr lang="en-US" b="1" dirty="0">
                <a:solidFill>
                  <a:srgbClr val="3884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176" name="Group 54">
            <a:extLst>
              <a:ext uri="{FF2B5EF4-FFF2-40B4-BE49-F238E27FC236}">
                <a16:creationId xmlns:a16="http://schemas.microsoft.com/office/drawing/2014/main" id="{99D3B16C-9081-6207-CC03-85BA9C3E21E8}"/>
              </a:ext>
            </a:extLst>
          </p:cNvPr>
          <p:cNvGrpSpPr/>
          <p:nvPr/>
        </p:nvGrpSpPr>
        <p:grpSpPr>
          <a:xfrm>
            <a:off x="1443378" y="7564309"/>
            <a:ext cx="4392549" cy="466709"/>
            <a:chOff x="0" y="0"/>
            <a:chExt cx="5856732" cy="622278"/>
          </a:xfrm>
        </p:grpSpPr>
        <p:sp>
          <p:nvSpPr>
            <p:cNvPr id="177" name="Freeform 55">
              <a:extLst>
                <a:ext uri="{FF2B5EF4-FFF2-40B4-BE49-F238E27FC236}">
                  <a16:creationId xmlns:a16="http://schemas.microsoft.com/office/drawing/2014/main" id="{F0FE2206-D21D-394C-A057-D6F30E9B874F}"/>
                </a:ext>
              </a:extLst>
            </p:cNvPr>
            <p:cNvSpPr/>
            <p:nvPr/>
          </p:nvSpPr>
          <p:spPr>
            <a:xfrm>
              <a:off x="0" y="0"/>
              <a:ext cx="5856736" cy="622282"/>
            </a:xfrm>
            <a:custGeom>
              <a:avLst/>
              <a:gdLst/>
              <a:ahLst/>
              <a:cxnLst/>
              <a:rect l="l" t="t" r="r" b="b"/>
              <a:pathLst>
                <a:path w="5856736" h="622282">
                  <a:moveTo>
                    <a:pt x="0" y="0"/>
                  </a:moveTo>
                  <a:lnTo>
                    <a:pt x="5856736" y="0"/>
                  </a:lnTo>
                  <a:lnTo>
                    <a:pt x="5856736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388" b="-13338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8" name="TextBox 56">
              <a:extLst>
                <a:ext uri="{FF2B5EF4-FFF2-40B4-BE49-F238E27FC236}">
                  <a16:creationId xmlns:a16="http://schemas.microsoft.com/office/drawing/2014/main" id="{B783519D-02F1-BD37-17E4-B51A1063822C}"/>
                </a:ext>
              </a:extLst>
            </p:cNvPr>
            <p:cNvSpPr txBox="1"/>
            <p:nvPr/>
          </p:nvSpPr>
          <p:spPr>
            <a:xfrm>
              <a:off x="0" y="-47625"/>
              <a:ext cx="5856732" cy="669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 spc="3" dirty="0">
                  <a:solidFill>
                    <a:srgbClr val="13304C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gemini-3.1-flash-lite</a:t>
              </a:r>
            </a:p>
          </p:txBody>
        </p:sp>
      </p:grpSp>
      <p:grpSp>
        <p:nvGrpSpPr>
          <p:cNvPr id="179" name="Group 57">
            <a:extLst>
              <a:ext uri="{FF2B5EF4-FFF2-40B4-BE49-F238E27FC236}">
                <a16:creationId xmlns:a16="http://schemas.microsoft.com/office/drawing/2014/main" id="{50720633-393A-B77D-C8C8-861C406CA0C2}"/>
              </a:ext>
            </a:extLst>
          </p:cNvPr>
          <p:cNvGrpSpPr/>
          <p:nvPr/>
        </p:nvGrpSpPr>
        <p:grpSpPr>
          <a:xfrm>
            <a:off x="6714437" y="7001515"/>
            <a:ext cx="4872990" cy="1304039"/>
            <a:chOff x="0" y="0"/>
            <a:chExt cx="6497320" cy="1738719"/>
          </a:xfrm>
        </p:grpSpPr>
        <p:sp>
          <p:nvSpPr>
            <p:cNvPr id="180" name="Freeform 58">
              <a:extLst>
                <a:ext uri="{FF2B5EF4-FFF2-40B4-BE49-F238E27FC236}">
                  <a16:creationId xmlns:a16="http://schemas.microsoft.com/office/drawing/2014/main" id="{32E1B289-A0A6-2B9C-9CE7-CFCFB537FECB}"/>
                </a:ext>
              </a:extLst>
            </p:cNvPr>
            <p:cNvSpPr/>
            <p:nvPr/>
          </p:nvSpPr>
          <p:spPr>
            <a:xfrm>
              <a:off x="0" y="0"/>
              <a:ext cx="6497320" cy="1738757"/>
            </a:xfrm>
            <a:custGeom>
              <a:avLst/>
              <a:gdLst/>
              <a:ahLst/>
              <a:cxnLst/>
              <a:rect l="l" t="t" r="r" b="b"/>
              <a:pathLst>
                <a:path w="649732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6207506" y="0"/>
                  </a:lnTo>
                  <a:cubicBezTo>
                    <a:pt x="6367526" y="0"/>
                    <a:pt x="6497320" y="129794"/>
                    <a:pt x="6497320" y="289814"/>
                  </a:cubicBezTo>
                  <a:lnTo>
                    <a:pt x="6497320" y="1448943"/>
                  </a:lnTo>
                  <a:cubicBezTo>
                    <a:pt x="6497320" y="1608963"/>
                    <a:pt x="6367526" y="1738757"/>
                    <a:pt x="6207506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6F1FB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1" name="Group 59">
            <a:extLst>
              <a:ext uri="{FF2B5EF4-FFF2-40B4-BE49-F238E27FC236}">
                <a16:creationId xmlns:a16="http://schemas.microsoft.com/office/drawing/2014/main" id="{21AB6944-EB80-1B90-E36B-401CD0130C00}"/>
              </a:ext>
            </a:extLst>
          </p:cNvPr>
          <p:cNvGrpSpPr/>
          <p:nvPr/>
        </p:nvGrpSpPr>
        <p:grpSpPr>
          <a:xfrm>
            <a:off x="6934064" y="7111329"/>
            <a:ext cx="1784471" cy="384348"/>
            <a:chOff x="0" y="0"/>
            <a:chExt cx="2379294" cy="512464"/>
          </a:xfrm>
        </p:grpSpPr>
        <p:sp>
          <p:nvSpPr>
            <p:cNvPr id="182" name="Freeform 60">
              <a:extLst>
                <a:ext uri="{FF2B5EF4-FFF2-40B4-BE49-F238E27FC236}">
                  <a16:creationId xmlns:a16="http://schemas.microsoft.com/office/drawing/2014/main" id="{DA5B0824-827F-B6E9-A7B2-B3F8D4B134F9}"/>
                </a:ext>
              </a:extLst>
            </p:cNvPr>
            <p:cNvSpPr/>
            <p:nvPr/>
          </p:nvSpPr>
          <p:spPr>
            <a:xfrm>
              <a:off x="0" y="0"/>
              <a:ext cx="2379299" cy="512458"/>
            </a:xfrm>
            <a:custGeom>
              <a:avLst/>
              <a:gdLst/>
              <a:ahLst/>
              <a:cxnLst/>
              <a:rect l="l" t="t" r="r" b="b"/>
              <a:pathLst>
                <a:path w="2379299" h="512458">
                  <a:moveTo>
                    <a:pt x="0" y="0"/>
                  </a:moveTo>
                  <a:lnTo>
                    <a:pt x="2379299" y="0"/>
                  </a:lnTo>
                  <a:lnTo>
                    <a:pt x="2379299" y="512458"/>
                  </a:lnTo>
                  <a:lnTo>
                    <a:pt x="0" y="5124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465" b="-4046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3" name="TextBox 61">
              <a:extLst>
                <a:ext uri="{FF2B5EF4-FFF2-40B4-BE49-F238E27FC236}">
                  <a16:creationId xmlns:a16="http://schemas.microsoft.com/office/drawing/2014/main" id="{D534DFCF-87B4-7736-6EFC-C54BC7294EC4}"/>
                </a:ext>
              </a:extLst>
            </p:cNvPr>
            <p:cNvSpPr txBox="1"/>
            <p:nvPr/>
          </p:nvSpPr>
          <p:spPr>
            <a:xfrm>
              <a:off x="0" y="-38100"/>
              <a:ext cx="2379294" cy="5505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00"/>
                </a:lnSpc>
              </a:pPr>
              <a:r>
                <a:rPr lang="en-US" b="1" spc="2" dirty="0">
                  <a:solidFill>
                    <a:srgbClr val="3884E8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Temperature</a:t>
              </a:r>
            </a:p>
          </p:txBody>
        </p:sp>
      </p:grpSp>
      <p:grpSp>
        <p:nvGrpSpPr>
          <p:cNvPr id="184" name="Group 62">
            <a:extLst>
              <a:ext uri="{FF2B5EF4-FFF2-40B4-BE49-F238E27FC236}">
                <a16:creationId xmlns:a16="http://schemas.microsoft.com/office/drawing/2014/main" id="{17C18906-23BB-1D04-CA5A-9177E8BAEDE9}"/>
              </a:ext>
            </a:extLst>
          </p:cNvPr>
          <p:cNvGrpSpPr/>
          <p:nvPr/>
        </p:nvGrpSpPr>
        <p:grpSpPr>
          <a:xfrm>
            <a:off x="6934064" y="7564309"/>
            <a:ext cx="4392549" cy="466709"/>
            <a:chOff x="0" y="0"/>
            <a:chExt cx="5856732" cy="622278"/>
          </a:xfrm>
        </p:grpSpPr>
        <p:sp>
          <p:nvSpPr>
            <p:cNvPr id="185" name="Freeform 63">
              <a:extLst>
                <a:ext uri="{FF2B5EF4-FFF2-40B4-BE49-F238E27FC236}">
                  <a16:creationId xmlns:a16="http://schemas.microsoft.com/office/drawing/2014/main" id="{97B2E717-DB56-2DC4-009C-D46BDA0D7169}"/>
                </a:ext>
              </a:extLst>
            </p:cNvPr>
            <p:cNvSpPr/>
            <p:nvPr/>
          </p:nvSpPr>
          <p:spPr>
            <a:xfrm>
              <a:off x="0" y="0"/>
              <a:ext cx="5856736" cy="622282"/>
            </a:xfrm>
            <a:custGeom>
              <a:avLst/>
              <a:gdLst/>
              <a:ahLst/>
              <a:cxnLst/>
              <a:rect l="l" t="t" r="r" b="b"/>
              <a:pathLst>
                <a:path w="5856736" h="622282">
                  <a:moveTo>
                    <a:pt x="0" y="0"/>
                  </a:moveTo>
                  <a:lnTo>
                    <a:pt x="5856736" y="0"/>
                  </a:lnTo>
                  <a:lnTo>
                    <a:pt x="5856736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388" b="-13338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6" name="TextBox 64">
              <a:extLst>
                <a:ext uri="{FF2B5EF4-FFF2-40B4-BE49-F238E27FC236}">
                  <a16:creationId xmlns:a16="http://schemas.microsoft.com/office/drawing/2014/main" id="{EC92022E-D1A6-0DE5-3CC4-FCD2B7DDF673}"/>
                </a:ext>
              </a:extLst>
            </p:cNvPr>
            <p:cNvSpPr txBox="1"/>
            <p:nvPr/>
          </p:nvSpPr>
          <p:spPr>
            <a:xfrm>
              <a:off x="0" y="-47625"/>
              <a:ext cx="5856732" cy="669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 spc="3" dirty="0">
                  <a:solidFill>
                    <a:srgbClr val="13304C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0.1</a:t>
              </a:r>
            </a:p>
          </p:txBody>
        </p:sp>
      </p:grpSp>
      <p:grpSp>
        <p:nvGrpSpPr>
          <p:cNvPr id="187" name="Group 65">
            <a:extLst>
              <a:ext uri="{FF2B5EF4-FFF2-40B4-BE49-F238E27FC236}">
                <a16:creationId xmlns:a16="http://schemas.microsoft.com/office/drawing/2014/main" id="{4929FC5F-8C11-E239-8344-BADE5CFF2794}"/>
              </a:ext>
            </a:extLst>
          </p:cNvPr>
          <p:cNvGrpSpPr/>
          <p:nvPr/>
        </p:nvGrpSpPr>
        <p:grpSpPr>
          <a:xfrm>
            <a:off x="12205123" y="7001515"/>
            <a:ext cx="4872990" cy="1304039"/>
            <a:chOff x="0" y="0"/>
            <a:chExt cx="6497320" cy="1738719"/>
          </a:xfrm>
        </p:grpSpPr>
        <p:sp>
          <p:nvSpPr>
            <p:cNvPr id="188" name="Freeform 66">
              <a:extLst>
                <a:ext uri="{FF2B5EF4-FFF2-40B4-BE49-F238E27FC236}">
                  <a16:creationId xmlns:a16="http://schemas.microsoft.com/office/drawing/2014/main" id="{7B2F48CE-1A58-DDB0-5550-4618943A0AD4}"/>
                </a:ext>
              </a:extLst>
            </p:cNvPr>
            <p:cNvSpPr/>
            <p:nvPr/>
          </p:nvSpPr>
          <p:spPr>
            <a:xfrm>
              <a:off x="0" y="0"/>
              <a:ext cx="6497320" cy="1738757"/>
            </a:xfrm>
            <a:custGeom>
              <a:avLst/>
              <a:gdLst/>
              <a:ahLst/>
              <a:cxnLst/>
              <a:rect l="l" t="t" r="r" b="b"/>
              <a:pathLst>
                <a:path w="649732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6207506" y="0"/>
                  </a:lnTo>
                  <a:cubicBezTo>
                    <a:pt x="6367526" y="0"/>
                    <a:pt x="6497320" y="129794"/>
                    <a:pt x="6497320" y="289814"/>
                  </a:cubicBezTo>
                  <a:lnTo>
                    <a:pt x="6497320" y="1448943"/>
                  </a:lnTo>
                  <a:cubicBezTo>
                    <a:pt x="6497320" y="1608963"/>
                    <a:pt x="6367526" y="1738757"/>
                    <a:pt x="6207506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6F1FB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9" name="Group 67">
            <a:extLst>
              <a:ext uri="{FF2B5EF4-FFF2-40B4-BE49-F238E27FC236}">
                <a16:creationId xmlns:a16="http://schemas.microsoft.com/office/drawing/2014/main" id="{9B6F6D72-5480-F043-9F84-98C98636AE78}"/>
              </a:ext>
            </a:extLst>
          </p:cNvPr>
          <p:cNvGrpSpPr/>
          <p:nvPr/>
        </p:nvGrpSpPr>
        <p:grpSpPr>
          <a:xfrm>
            <a:off x="12424750" y="7111329"/>
            <a:ext cx="1784471" cy="384348"/>
            <a:chOff x="0" y="0"/>
            <a:chExt cx="2379294" cy="512464"/>
          </a:xfrm>
        </p:grpSpPr>
        <p:sp>
          <p:nvSpPr>
            <p:cNvPr id="190" name="Freeform 68">
              <a:extLst>
                <a:ext uri="{FF2B5EF4-FFF2-40B4-BE49-F238E27FC236}">
                  <a16:creationId xmlns:a16="http://schemas.microsoft.com/office/drawing/2014/main" id="{85434FB4-46BA-2212-A8F1-1B2B1F88B42F}"/>
                </a:ext>
              </a:extLst>
            </p:cNvPr>
            <p:cNvSpPr/>
            <p:nvPr/>
          </p:nvSpPr>
          <p:spPr>
            <a:xfrm>
              <a:off x="0" y="0"/>
              <a:ext cx="2379299" cy="512458"/>
            </a:xfrm>
            <a:custGeom>
              <a:avLst/>
              <a:gdLst/>
              <a:ahLst/>
              <a:cxnLst/>
              <a:rect l="l" t="t" r="r" b="b"/>
              <a:pathLst>
                <a:path w="2379299" h="512458">
                  <a:moveTo>
                    <a:pt x="0" y="0"/>
                  </a:moveTo>
                  <a:lnTo>
                    <a:pt x="2379299" y="0"/>
                  </a:lnTo>
                  <a:lnTo>
                    <a:pt x="2379299" y="512458"/>
                  </a:lnTo>
                  <a:lnTo>
                    <a:pt x="0" y="5124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465" b="-4046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1" name="TextBox 69">
              <a:extLst>
                <a:ext uri="{FF2B5EF4-FFF2-40B4-BE49-F238E27FC236}">
                  <a16:creationId xmlns:a16="http://schemas.microsoft.com/office/drawing/2014/main" id="{96514544-0C51-3E64-0B29-8D9D0BA708B6}"/>
                </a:ext>
              </a:extLst>
            </p:cNvPr>
            <p:cNvSpPr txBox="1"/>
            <p:nvPr/>
          </p:nvSpPr>
          <p:spPr>
            <a:xfrm>
              <a:off x="0" y="-38100"/>
              <a:ext cx="2379294" cy="5505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00"/>
                </a:lnSpc>
              </a:pPr>
              <a:r>
                <a:rPr lang="en-US" b="1" spc="2" dirty="0">
                  <a:solidFill>
                    <a:srgbClr val="3884E8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Prompt version</a:t>
              </a:r>
            </a:p>
          </p:txBody>
        </p:sp>
      </p:grpSp>
      <p:grpSp>
        <p:nvGrpSpPr>
          <p:cNvPr id="192" name="Group 70">
            <a:extLst>
              <a:ext uri="{FF2B5EF4-FFF2-40B4-BE49-F238E27FC236}">
                <a16:creationId xmlns:a16="http://schemas.microsoft.com/office/drawing/2014/main" id="{E8C9C141-A832-3D00-2986-58871B265916}"/>
              </a:ext>
            </a:extLst>
          </p:cNvPr>
          <p:cNvGrpSpPr/>
          <p:nvPr/>
        </p:nvGrpSpPr>
        <p:grpSpPr>
          <a:xfrm>
            <a:off x="12424750" y="7564309"/>
            <a:ext cx="4392549" cy="466709"/>
            <a:chOff x="0" y="0"/>
            <a:chExt cx="5856732" cy="622278"/>
          </a:xfrm>
        </p:grpSpPr>
        <p:sp>
          <p:nvSpPr>
            <p:cNvPr id="193" name="Freeform 71">
              <a:extLst>
                <a:ext uri="{FF2B5EF4-FFF2-40B4-BE49-F238E27FC236}">
                  <a16:creationId xmlns:a16="http://schemas.microsoft.com/office/drawing/2014/main" id="{59E76152-AC10-CCCA-8C7E-6D25442F3FDD}"/>
                </a:ext>
              </a:extLst>
            </p:cNvPr>
            <p:cNvSpPr/>
            <p:nvPr/>
          </p:nvSpPr>
          <p:spPr>
            <a:xfrm>
              <a:off x="0" y="0"/>
              <a:ext cx="5856736" cy="622282"/>
            </a:xfrm>
            <a:custGeom>
              <a:avLst/>
              <a:gdLst/>
              <a:ahLst/>
              <a:cxnLst/>
              <a:rect l="l" t="t" r="r" b="b"/>
              <a:pathLst>
                <a:path w="5856736" h="622282">
                  <a:moveTo>
                    <a:pt x="0" y="0"/>
                  </a:moveTo>
                  <a:lnTo>
                    <a:pt x="5856736" y="0"/>
                  </a:lnTo>
                  <a:lnTo>
                    <a:pt x="5856736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388" b="-13338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4" name="TextBox 72">
              <a:extLst>
                <a:ext uri="{FF2B5EF4-FFF2-40B4-BE49-F238E27FC236}">
                  <a16:creationId xmlns:a16="http://schemas.microsoft.com/office/drawing/2014/main" id="{0F79A57D-639D-BE2F-EF62-1D91308703B4}"/>
                </a:ext>
              </a:extLst>
            </p:cNvPr>
            <p:cNvSpPr txBox="1"/>
            <p:nvPr/>
          </p:nvSpPr>
          <p:spPr>
            <a:xfrm>
              <a:off x="0" y="-47625"/>
              <a:ext cx="5856732" cy="669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 spc="3" dirty="0">
                  <a:solidFill>
                    <a:srgbClr val="13304C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v1.0</a:t>
              </a:r>
            </a:p>
          </p:txBody>
        </p:sp>
      </p:grpSp>
      <p:grpSp>
        <p:nvGrpSpPr>
          <p:cNvPr id="195" name="Group 73">
            <a:extLst>
              <a:ext uri="{FF2B5EF4-FFF2-40B4-BE49-F238E27FC236}">
                <a16:creationId xmlns:a16="http://schemas.microsoft.com/office/drawing/2014/main" id="{337BA94D-930E-E6DE-57AF-E6CE777D9C7F}"/>
              </a:ext>
            </a:extLst>
          </p:cNvPr>
          <p:cNvGrpSpPr/>
          <p:nvPr/>
        </p:nvGrpSpPr>
        <p:grpSpPr>
          <a:xfrm>
            <a:off x="1223746" y="8613736"/>
            <a:ext cx="15854362" cy="1029500"/>
            <a:chOff x="0" y="0"/>
            <a:chExt cx="21139150" cy="1372667"/>
          </a:xfrm>
        </p:grpSpPr>
        <p:sp>
          <p:nvSpPr>
            <p:cNvPr id="196" name="Freeform 74">
              <a:extLst>
                <a:ext uri="{FF2B5EF4-FFF2-40B4-BE49-F238E27FC236}">
                  <a16:creationId xmlns:a16="http://schemas.microsoft.com/office/drawing/2014/main" id="{39D1772B-2D4F-9FE3-AF3B-BF39CEECA308}"/>
                </a:ext>
              </a:extLst>
            </p:cNvPr>
            <p:cNvSpPr/>
            <p:nvPr/>
          </p:nvSpPr>
          <p:spPr>
            <a:xfrm>
              <a:off x="0" y="0"/>
              <a:ext cx="21139150" cy="1372616"/>
            </a:xfrm>
            <a:custGeom>
              <a:avLst/>
              <a:gdLst/>
              <a:ahLst/>
              <a:cxnLst/>
              <a:rect l="l" t="t" r="r" b="b"/>
              <a:pathLst>
                <a:path w="21139150" h="1372616">
                  <a:moveTo>
                    <a:pt x="0" y="228727"/>
                  </a:moveTo>
                  <a:cubicBezTo>
                    <a:pt x="0" y="102489"/>
                    <a:pt x="102489" y="0"/>
                    <a:pt x="228727" y="0"/>
                  </a:cubicBezTo>
                  <a:lnTo>
                    <a:pt x="20910423" y="0"/>
                  </a:lnTo>
                  <a:cubicBezTo>
                    <a:pt x="21036787" y="0"/>
                    <a:pt x="21139150" y="102489"/>
                    <a:pt x="21139150" y="228727"/>
                  </a:cubicBezTo>
                  <a:lnTo>
                    <a:pt x="21139150" y="1143889"/>
                  </a:lnTo>
                  <a:cubicBezTo>
                    <a:pt x="21139150" y="1270254"/>
                    <a:pt x="21036662" y="1372616"/>
                    <a:pt x="20910423" y="1372616"/>
                  </a:cubicBezTo>
                  <a:lnTo>
                    <a:pt x="228727" y="1372616"/>
                  </a:lnTo>
                  <a:cubicBezTo>
                    <a:pt x="102489" y="1372616"/>
                    <a:pt x="0" y="1270254"/>
                    <a:pt x="0" y="1143889"/>
                  </a:cubicBezTo>
                  <a:close/>
                </a:path>
              </a:pathLst>
            </a:custGeom>
            <a:solidFill>
              <a:srgbClr val="13304C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97" name="Group 75">
            <a:extLst>
              <a:ext uri="{FF2B5EF4-FFF2-40B4-BE49-F238E27FC236}">
                <a16:creationId xmlns:a16="http://schemas.microsoft.com/office/drawing/2014/main" id="{085C231E-E260-4FDB-9DB0-E6DB71C0EE48}"/>
              </a:ext>
            </a:extLst>
          </p:cNvPr>
          <p:cNvGrpSpPr/>
          <p:nvPr/>
        </p:nvGrpSpPr>
        <p:grpSpPr>
          <a:xfrm>
            <a:off x="1566913" y="8696098"/>
            <a:ext cx="15168029" cy="823608"/>
            <a:chOff x="0" y="0"/>
            <a:chExt cx="20224039" cy="1098144"/>
          </a:xfrm>
        </p:grpSpPr>
        <p:sp>
          <p:nvSpPr>
            <p:cNvPr id="198" name="Freeform 76">
              <a:extLst>
                <a:ext uri="{FF2B5EF4-FFF2-40B4-BE49-F238E27FC236}">
                  <a16:creationId xmlns:a16="http://schemas.microsoft.com/office/drawing/2014/main" id="{194042EE-2CA3-349F-A6F8-1F880202FDE2}"/>
                </a:ext>
              </a:extLst>
            </p:cNvPr>
            <p:cNvSpPr/>
            <p:nvPr/>
          </p:nvSpPr>
          <p:spPr>
            <a:xfrm>
              <a:off x="0" y="0"/>
              <a:ext cx="20224040" cy="1098138"/>
            </a:xfrm>
            <a:custGeom>
              <a:avLst/>
              <a:gdLst/>
              <a:ahLst/>
              <a:cxnLst/>
              <a:rect l="l" t="t" r="r" b="b"/>
              <a:pathLst>
                <a:path w="20224040" h="1098138">
                  <a:moveTo>
                    <a:pt x="0" y="0"/>
                  </a:moveTo>
                  <a:lnTo>
                    <a:pt x="20224040" y="0"/>
                  </a:lnTo>
                  <a:lnTo>
                    <a:pt x="2022404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8849" b="-30884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9" name="TextBox 77">
              <a:extLst>
                <a:ext uri="{FF2B5EF4-FFF2-40B4-BE49-F238E27FC236}">
                  <a16:creationId xmlns:a16="http://schemas.microsoft.com/office/drawing/2014/main" id="{42D279F9-F556-CB5A-8B54-6A4B64D2989F}"/>
                </a:ext>
              </a:extLst>
            </p:cNvPr>
            <p:cNvSpPr txBox="1"/>
            <p:nvPr/>
          </p:nvSpPr>
          <p:spPr>
            <a:xfrm>
              <a:off x="0" y="-47625"/>
              <a:ext cx="20224039" cy="11457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2551" b="1" dirty="0" err="1"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控制條件：模型看不到預設</a:t>
              </a:r>
              <a:r>
                <a:rPr lang="en-US" sz="2551" b="1" dirty="0"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 CIA </a:t>
              </a:r>
              <a:r>
                <a:rPr lang="en-US" sz="2551" b="1" dirty="0" err="1"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參考值</a:t>
              </a:r>
              <a:r>
                <a:rPr lang="en-US" sz="2551" b="1" dirty="0">
                  <a:solidFill>
                    <a:srgbClr val="FFFFFF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4915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6A71-9729-2DB2-82F7-A434F5D7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F702D0-270D-AE3C-DD65-BEACBA43525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F71F610-DB9C-B4A3-2827-B04F85FA30F8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9DADB1C-C640-9D70-1F64-0E67A6E34450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A84400-975B-48C6-448A-84F7125E5D28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14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D3CDD9E-2610-3F53-F09A-96C6BFD71370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grpSp>
        <p:nvGrpSpPr>
          <p:cNvPr id="73" name="Group 10">
            <a:extLst>
              <a:ext uri="{FF2B5EF4-FFF2-40B4-BE49-F238E27FC236}">
                <a16:creationId xmlns:a16="http://schemas.microsoft.com/office/drawing/2014/main" id="{588F8743-628B-4664-AE82-61B1A17F1CCD}"/>
              </a:ext>
            </a:extLst>
          </p:cNvPr>
          <p:cNvGrpSpPr/>
          <p:nvPr/>
        </p:nvGrpSpPr>
        <p:grpSpPr>
          <a:xfrm>
            <a:off x="604959" y="1721760"/>
            <a:ext cx="17033074" cy="1101610"/>
            <a:chOff x="0" y="0"/>
            <a:chExt cx="22710765" cy="1468813"/>
          </a:xfrm>
        </p:grpSpPr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9F6779F7-EBD1-4901-AE4E-9D4375E0096A}"/>
                </a:ext>
              </a:extLst>
            </p:cNvPr>
            <p:cNvSpPr/>
            <p:nvPr/>
          </p:nvSpPr>
          <p:spPr>
            <a:xfrm>
              <a:off x="0" y="0"/>
              <a:ext cx="22145782" cy="1328874"/>
            </a:xfrm>
            <a:custGeom>
              <a:avLst/>
              <a:gdLst/>
              <a:ahLst/>
              <a:cxnLst/>
              <a:rect l="l" t="t" r="r" b="b"/>
              <a:pathLst>
                <a:path w="22145782" h="1328874">
                  <a:moveTo>
                    <a:pt x="0" y="0"/>
                  </a:moveTo>
                  <a:lnTo>
                    <a:pt x="22145782" y="0"/>
                  </a:lnTo>
                  <a:lnTo>
                    <a:pt x="22145782" y="1328874"/>
                  </a:lnTo>
                  <a:lnTo>
                    <a:pt x="0" y="13288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910" b="-260528"/>
              </a:stretch>
            </a:blipFill>
          </p:spPr>
          <p:txBody>
            <a:bodyPr/>
            <a:lstStyle/>
            <a:p>
              <a:endParaRPr lang="zh-TW" altLang="en-US">
                <a:latin typeface="Arial Unicode MS" panose="020B060402020202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5" name="TextBox 12">
              <a:extLst>
                <a:ext uri="{FF2B5EF4-FFF2-40B4-BE49-F238E27FC236}">
                  <a16:creationId xmlns:a16="http://schemas.microsoft.com/office/drawing/2014/main" id="{E897F7E8-D23D-4C9B-BA7F-C778DD2759EB}"/>
                </a:ext>
              </a:extLst>
            </p:cNvPr>
            <p:cNvSpPr txBox="1"/>
            <p:nvPr/>
          </p:nvSpPr>
          <p:spPr>
            <a:xfrm>
              <a:off x="564988" y="35156"/>
              <a:ext cx="22145777" cy="14336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43"/>
                </a:lnSpc>
              </a:pPr>
              <a:r>
                <a:rPr lang="en-US" sz="5000" b="1" dirty="0" err="1">
                  <a:solidFill>
                    <a:schemeClr val="bg1"/>
                  </a:solidFill>
                  <a:latin typeface="Arial Unicode MS" panose="020B060402020202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結果一：技術上可運作</a:t>
              </a:r>
              <a:endParaRPr lang="en-US" sz="5000" b="1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sp>
        <p:nvSpPr>
          <p:cNvPr id="76" name="Freeform 13">
            <a:extLst>
              <a:ext uri="{FF2B5EF4-FFF2-40B4-BE49-F238E27FC236}">
                <a16:creationId xmlns:a16="http://schemas.microsoft.com/office/drawing/2014/main" id="{D552CC5C-CA76-4718-A7E9-3B576B3AA1DC}"/>
              </a:ext>
            </a:extLst>
          </p:cNvPr>
          <p:cNvSpPr/>
          <p:nvPr/>
        </p:nvSpPr>
        <p:spPr>
          <a:xfrm>
            <a:off x="694165" y="3508065"/>
            <a:ext cx="6751466" cy="5564685"/>
          </a:xfrm>
          <a:custGeom>
            <a:avLst/>
            <a:gdLst/>
            <a:ahLst/>
            <a:cxnLst/>
            <a:rect l="l" t="t" r="r" b="b"/>
            <a:pathLst>
              <a:path w="6751466" h="5564685">
                <a:moveTo>
                  <a:pt x="0" y="0"/>
                </a:moveTo>
                <a:lnTo>
                  <a:pt x="6751466" y="0"/>
                </a:lnTo>
                <a:lnTo>
                  <a:pt x="6751466" y="5564685"/>
                </a:lnTo>
                <a:lnTo>
                  <a:pt x="0" y="5564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Freeform 14">
            <a:extLst>
              <a:ext uri="{FF2B5EF4-FFF2-40B4-BE49-F238E27FC236}">
                <a16:creationId xmlns:a16="http://schemas.microsoft.com/office/drawing/2014/main" id="{33DB9E7B-9658-49BB-B4FF-55451B3C0D9D}"/>
              </a:ext>
            </a:extLst>
          </p:cNvPr>
          <p:cNvSpPr/>
          <p:nvPr/>
        </p:nvSpPr>
        <p:spPr>
          <a:xfrm>
            <a:off x="7630743" y="3520864"/>
            <a:ext cx="5009088" cy="2815327"/>
          </a:xfrm>
          <a:custGeom>
            <a:avLst/>
            <a:gdLst/>
            <a:ahLst/>
            <a:cxnLst/>
            <a:rect l="l" t="t" r="r" b="b"/>
            <a:pathLst>
              <a:path w="5009088" h="2815327">
                <a:moveTo>
                  <a:pt x="0" y="0"/>
                </a:moveTo>
                <a:lnTo>
                  <a:pt x="5009088" y="0"/>
                </a:lnTo>
                <a:lnTo>
                  <a:pt x="5009088" y="2815327"/>
                </a:lnTo>
                <a:lnTo>
                  <a:pt x="0" y="2815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15">
            <a:extLst>
              <a:ext uri="{FF2B5EF4-FFF2-40B4-BE49-F238E27FC236}">
                <a16:creationId xmlns:a16="http://schemas.microsoft.com/office/drawing/2014/main" id="{75827C4B-62B6-47EA-9EFB-A0DE0F8FFB89}"/>
              </a:ext>
            </a:extLst>
          </p:cNvPr>
          <p:cNvSpPr txBox="1"/>
          <p:nvPr/>
        </p:nvSpPr>
        <p:spPr>
          <a:xfrm>
            <a:off x="1028700" y="2766082"/>
            <a:ext cx="14558841" cy="4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1"/>
              </a:lnSpc>
              <a:spcBef>
                <a:spcPct val="0"/>
              </a:spcBef>
            </a:pPr>
            <a:r>
              <a:rPr lang="en-US" sz="2800" spc="4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102 </a:t>
            </a:r>
            <a:r>
              <a:rPr lang="en-US" sz="2800" spc="4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筆凍結案例</a:t>
            </a:r>
            <a:r>
              <a:rPr lang="en-US" sz="2800" spc="4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 × 3 次 = 306 </a:t>
            </a:r>
            <a:r>
              <a:rPr lang="en-US" sz="2800" spc="4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次正式評值，全部於第一次</a:t>
            </a:r>
            <a:r>
              <a:rPr lang="en-US" sz="2800" spc="4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 API </a:t>
            </a:r>
            <a:r>
              <a:rPr lang="en-US" sz="2800" spc="4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嘗試取得有效輸出</a:t>
            </a:r>
            <a:endParaRPr lang="en-US" sz="2800" spc="4" dirty="0">
              <a:solidFill>
                <a:schemeClr val="bg1"/>
              </a:solidFill>
              <a:latin typeface="Arial Unicode MS" panose="020B0604020202020204" pitchFamily="34" charset="-120"/>
              <a:ea typeface="微軟正黑體" panose="020B0604030504040204" pitchFamily="34" charset="-120"/>
              <a:cs typeface="Calibri (MS) Bold"/>
              <a:sym typeface="Calibri (MS) Bold"/>
            </a:endParaRPr>
          </a:p>
        </p:txBody>
      </p:sp>
      <p:sp>
        <p:nvSpPr>
          <p:cNvPr id="79" name="TextBox 16">
            <a:extLst>
              <a:ext uri="{FF2B5EF4-FFF2-40B4-BE49-F238E27FC236}">
                <a16:creationId xmlns:a16="http://schemas.microsoft.com/office/drawing/2014/main" id="{D2ABD20E-2B88-48CC-BD3D-BDF0652BDA2A}"/>
              </a:ext>
            </a:extLst>
          </p:cNvPr>
          <p:cNvSpPr txBox="1"/>
          <p:nvPr/>
        </p:nvSpPr>
        <p:spPr>
          <a:xfrm>
            <a:off x="694165" y="3992462"/>
            <a:ext cx="6751466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1"/>
              </a:lnSpc>
              <a:spcBef>
                <a:spcPct val="0"/>
              </a:spcBef>
            </a:pPr>
            <a:r>
              <a:rPr lang="en-US" sz="3351" b="1" spc="5">
                <a:solidFill>
                  <a:srgbClr val="FFFFFF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有效輸出</a:t>
            </a:r>
          </a:p>
        </p:txBody>
      </p:sp>
      <p:sp>
        <p:nvSpPr>
          <p:cNvPr id="80" name="TextBox 17">
            <a:extLst>
              <a:ext uri="{FF2B5EF4-FFF2-40B4-BE49-F238E27FC236}">
                <a16:creationId xmlns:a16="http://schemas.microsoft.com/office/drawing/2014/main" id="{FD086870-B014-4C30-B720-044E40803723}"/>
              </a:ext>
            </a:extLst>
          </p:cNvPr>
          <p:cNvSpPr txBox="1"/>
          <p:nvPr/>
        </p:nvSpPr>
        <p:spPr>
          <a:xfrm>
            <a:off x="1682308" y="4744076"/>
            <a:ext cx="4775179" cy="1452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79"/>
              </a:lnSpc>
              <a:spcBef>
                <a:spcPct val="0"/>
              </a:spcBef>
            </a:pPr>
            <a:r>
              <a:rPr lang="en-US" sz="9899" b="1" spc="16" dirty="0">
                <a:solidFill>
                  <a:srgbClr val="FFFFFF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306/306</a:t>
            </a: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12700D9A-D186-4A3E-AEAB-208984366DCB}"/>
              </a:ext>
            </a:extLst>
          </p:cNvPr>
          <p:cNvSpPr txBox="1"/>
          <p:nvPr/>
        </p:nvSpPr>
        <p:spPr>
          <a:xfrm>
            <a:off x="694165" y="6535637"/>
            <a:ext cx="6751466" cy="94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6300" spc="10" dirty="0">
                <a:solidFill>
                  <a:srgbClr val="1CB9B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100.00</a:t>
            </a:r>
            <a:r>
              <a:rPr lang="en-US" sz="6300" b="1" spc="10" dirty="0">
                <a:solidFill>
                  <a:srgbClr val="1CB9B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%</a:t>
            </a:r>
          </a:p>
        </p:txBody>
      </p:sp>
      <p:sp>
        <p:nvSpPr>
          <p:cNvPr id="82" name="TextBox 19">
            <a:extLst>
              <a:ext uri="{FF2B5EF4-FFF2-40B4-BE49-F238E27FC236}">
                <a16:creationId xmlns:a16="http://schemas.microsoft.com/office/drawing/2014/main" id="{191446B9-2D39-41DD-B2E2-64219D25E477}"/>
              </a:ext>
            </a:extLst>
          </p:cNvPr>
          <p:cNvSpPr txBox="1"/>
          <p:nvPr/>
        </p:nvSpPr>
        <p:spPr>
          <a:xfrm>
            <a:off x="2670021" y="8088212"/>
            <a:ext cx="279975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1"/>
              </a:lnSpc>
              <a:spcBef>
                <a:spcPct val="0"/>
              </a:spcBef>
            </a:pPr>
            <a:r>
              <a:rPr lang="en-US" sz="2751" b="1" spc="4">
                <a:solidFill>
                  <a:srgbClr val="FFFFFF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端對端有效輸出率</a:t>
            </a:r>
          </a:p>
        </p:txBody>
      </p:sp>
      <p:sp>
        <p:nvSpPr>
          <p:cNvPr id="83" name="Freeform 20">
            <a:extLst>
              <a:ext uri="{FF2B5EF4-FFF2-40B4-BE49-F238E27FC236}">
                <a16:creationId xmlns:a16="http://schemas.microsoft.com/office/drawing/2014/main" id="{95752A35-9196-4742-BBC3-0907647A5F49}"/>
              </a:ext>
            </a:extLst>
          </p:cNvPr>
          <p:cNvSpPr/>
          <p:nvPr/>
        </p:nvSpPr>
        <p:spPr>
          <a:xfrm>
            <a:off x="12639831" y="3520864"/>
            <a:ext cx="5009088" cy="2815327"/>
          </a:xfrm>
          <a:custGeom>
            <a:avLst/>
            <a:gdLst/>
            <a:ahLst/>
            <a:cxnLst/>
            <a:rect l="l" t="t" r="r" b="b"/>
            <a:pathLst>
              <a:path w="5009088" h="2815327">
                <a:moveTo>
                  <a:pt x="0" y="0"/>
                </a:moveTo>
                <a:lnTo>
                  <a:pt x="5009088" y="0"/>
                </a:lnTo>
                <a:lnTo>
                  <a:pt x="5009088" y="2815327"/>
                </a:lnTo>
                <a:lnTo>
                  <a:pt x="0" y="2815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Freeform 21">
            <a:extLst>
              <a:ext uri="{FF2B5EF4-FFF2-40B4-BE49-F238E27FC236}">
                <a16:creationId xmlns:a16="http://schemas.microsoft.com/office/drawing/2014/main" id="{9FF6DE46-88A0-4004-B652-715C4EA7C00E}"/>
              </a:ext>
            </a:extLst>
          </p:cNvPr>
          <p:cNvSpPr/>
          <p:nvPr/>
        </p:nvSpPr>
        <p:spPr>
          <a:xfrm>
            <a:off x="7630743" y="6204877"/>
            <a:ext cx="5009088" cy="2815327"/>
          </a:xfrm>
          <a:custGeom>
            <a:avLst/>
            <a:gdLst/>
            <a:ahLst/>
            <a:cxnLst/>
            <a:rect l="l" t="t" r="r" b="b"/>
            <a:pathLst>
              <a:path w="5009088" h="2815327">
                <a:moveTo>
                  <a:pt x="0" y="0"/>
                </a:moveTo>
                <a:lnTo>
                  <a:pt x="5009088" y="0"/>
                </a:lnTo>
                <a:lnTo>
                  <a:pt x="5009088" y="2815327"/>
                </a:lnTo>
                <a:lnTo>
                  <a:pt x="0" y="2815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Freeform 22">
            <a:extLst>
              <a:ext uri="{FF2B5EF4-FFF2-40B4-BE49-F238E27FC236}">
                <a16:creationId xmlns:a16="http://schemas.microsoft.com/office/drawing/2014/main" id="{04A4C568-9E32-4A09-B727-FF1DC70495B8}"/>
              </a:ext>
            </a:extLst>
          </p:cNvPr>
          <p:cNvSpPr/>
          <p:nvPr/>
        </p:nvSpPr>
        <p:spPr>
          <a:xfrm>
            <a:off x="12639831" y="6204877"/>
            <a:ext cx="5009088" cy="2815327"/>
          </a:xfrm>
          <a:custGeom>
            <a:avLst/>
            <a:gdLst/>
            <a:ahLst/>
            <a:cxnLst/>
            <a:rect l="l" t="t" r="r" b="b"/>
            <a:pathLst>
              <a:path w="5009088" h="2815327">
                <a:moveTo>
                  <a:pt x="0" y="0"/>
                </a:moveTo>
                <a:lnTo>
                  <a:pt x="5009088" y="0"/>
                </a:lnTo>
                <a:lnTo>
                  <a:pt x="5009088" y="2815327"/>
                </a:lnTo>
                <a:lnTo>
                  <a:pt x="0" y="2815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Box 23">
            <a:extLst>
              <a:ext uri="{FF2B5EF4-FFF2-40B4-BE49-F238E27FC236}">
                <a16:creationId xmlns:a16="http://schemas.microsoft.com/office/drawing/2014/main" id="{0BC752DB-CFFD-414A-A4DC-38422608F838}"/>
              </a:ext>
            </a:extLst>
          </p:cNvPr>
          <p:cNvSpPr txBox="1"/>
          <p:nvPr/>
        </p:nvSpPr>
        <p:spPr>
          <a:xfrm>
            <a:off x="6630646" y="3946434"/>
            <a:ext cx="500908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sz="2851" b="1" spc="4">
                <a:solidFill>
                  <a:srgbClr val="14365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API 嘗試次數</a:t>
            </a:r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D4AEF7B4-102B-4808-A23D-6FF33708F03F}"/>
              </a:ext>
            </a:extLst>
          </p:cNvPr>
          <p:cNvSpPr txBox="1"/>
          <p:nvPr/>
        </p:nvSpPr>
        <p:spPr>
          <a:xfrm>
            <a:off x="11423585" y="3897791"/>
            <a:ext cx="500908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sz="2851" b="1" spc="2">
                <a:solidFill>
                  <a:srgbClr val="14365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重試次數</a:t>
            </a:r>
          </a:p>
        </p:txBody>
      </p:sp>
      <p:sp>
        <p:nvSpPr>
          <p:cNvPr id="88" name="TextBox 25">
            <a:extLst>
              <a:ext uri="{FF2B5EF4-FFF2-40B4-BE49-F238E27FC236}">
                <a16:creationId xmlns:a16="http://schemas.microsoft.com/office/drawing/2014/main" id="{A211472D-4206-4259-A25F-59E9DB6A63BF}"/>
              </a:ext>
            </a:extLst>
          </p:cNvPr>
          <p:cNvSpPr txBox="1"/>
          <p:nvPr/>
        </p:nvSpPr>
        <p:spPr>
          <a:xfrm>
            <a:off x="11776635" y="6564791"/>
            <a:ext cx="500908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sz="2851" b="1" spc="4">
                <a:solidFill>
                  <a:srgbClr val="14365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平均 API 延遲</a:t>
            </a:r>
          </a:p>
        </p:txBody>
      </p:sp>
      <p:sp>
        <p:nvSpPr>
          <p:cNvPr id="89" name="TextBox 26">
            <a:extLst>
              <a:ext uri="{FF2B5EF4-FFF2-40B4-BE49-F238E27FC236}">
                <a16:creationId xmlns:a16="http://schemas.microsoft.com/office/drawing/2014/main" id="{1877D514-4774-40F9-8D33-595E03A6F72F}"/>
              </a:ext>
            </a:extLst>
          </p:cNvPr>
          <p:cNvSpPr txBox="1"/>
          <p:nvPr/>
        </p:nvSpPr>
        <p:spPr>
          <a:xfrm>
            <a:off x="6630646" y="6564791"/>
            <a:ext cx="500908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sz="2851" b="1" spc="2">
                <a:solidFill>
                  <a:srgbClr val="14365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最終失敗次數</a:t>
            </a:r>
          </a:p>
        </p:txBody>
      </p:sp>
      <p:sp>
        <p:nvSpPr>
          <p:cNvPr id="90" name="TextBox 27">
            <a:extLst>
              <a:ext uri="{FF2B5EF4-FFF2-40B4-BE49-F238E27FC236}">
                <a16:creationId xmlns:a16="http://schemas.microsoft.com/office/drawing/2014/main" id="{C0670587-7AE1-4A53-B26B-5F57AB8C2575}"/>
              </a:ext>
            </a:extLst>
          </p:cNvPr>
          <p:cNvSpPr txBox="1"/>
          <p:nvPr/>
        </p:nvSpPr>
        <p:spPr>
          <a:xfrm>
            <a:off x="6196140" y="4602641"/>
            <a:ext cx="5009088" cy="93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sz="6399" b="1" spc="10">
                <a:solidFill>
                  <a:srgbClr val="5D7388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306</a:t>
            </a:r>
          </a:p>
        </p:txBody>
      </p:sp>
      <p:sp>
        <p:nvSpPr>
          <p:cNvPr id="91" name="TextBox 28">
            <a:extLst>
              <a:ext uri="{FF2B5EF4-FFF2-40B4-BE49-F238E27FC236}">
                <a16:creationId xmlns:a16="http://schemas.microsoft.com/office/drawing/2014/main" id="{4FAE72E9-FAE7-4AE5-96BF-F98EACECE5BA}"/>
              </a:ext>
            </a:extLst>
          </p:cNvPr>
          <p:cNvSpPr txBox="1"/>
          <p:nvPr/>
        </p:nvSpPr>
        <p:spPr>
          <a:xfrm>
            <a:off x="11030913" y="4602641"/>
            <a:ext cx="5009088" cy="93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sz="6399" b="1" spc="10">
                <a:solidFill>
                  <a:srgbClr val="5D7388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0</a:t>
            </a:r>
          </a:p>
        </p:txBody>
      </p:sp>
      <p:sp>
        <p:nvSpPr>
          <p:cNvPr id="92" name="TextBox 29">
            <a:extLst>
              <a:ext uri="{FF2B5EF4-FFF2-40B4-BE49-F238E27FC236}">
                <a16:creationId xmlns:a16="http://schemas.microsoft.com/office/drawing/2014/main" id="{C22433D7-31C9-4D2E-B27B-DE6CD37E8100}"/>
              </a:ext>
            </a:extLst>
          </p:cNvPr>
          <p:cNvSpPr txBox="1"/>
          <p:nvPr/>
        </p:nvSpPr>
        <p:spPr>
          <a:xfrm>
            <a:off x="5781645" y="7288691"/>
            <a:ext cx="5009088" cy="93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sz="6399" b="1" spc="10">
                <a:solidFill>
                  <a:srgbClr val="5D7388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0</a:t>
            </a:r>
          </a:p>
        </p:txBody>
      </p:sp>
      <p:sp>
        <p:nvSpPr>
          <p:cNvPr id="93" name="TextBox 30">
            <a:extLst>
              <a:ext uri="{FF2B5EF4-FFF2-40B4-BE49-F238E27FC236}">
                <a16:creationId xmlns:a16="http://schemas.microsoft.com/office/drawing/2014/main" id="{FD1855D2-4F61-4C39-A5FB-96DEE0114E07}"/>
              </a:ext>
            </a:extLst>
          </p:cNvPr>
          <p:cNvSpPr txBox="1"/>
          <p:nvPr/>
        </p:nvSpPr>
        <p:spPr>
          <a:xfrm>
            <a:off x="12366890" y="7226778"/>
            <a:ext cx="5009088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 spc="9" dirty="0">
                <a:solidFill>
                  <a:srgbClr val="5D7388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2247.58 </a:t>
            </a:r>
            <a:r>
              <a:rPr lang="en-US" sz="5600" b="1" spc="9" dirty="0" err="1">
                <a:solidFill>
                  <a:srgbClr val="5D7388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ms</a:t>
            </a:r>
            <a:endParaRPr lang="en-US" sz="5600" b="1" spc="9" dirty="0">
              <a:solidFill>
                <a:srgbClr val="5D7388"/>
              </a:solidFill>
              <a:latin typeface="Arial Unicode MS" panose="020B0604020202020204" pitchFamily="34" charset="-120"/>
              <a:ea typeface="微軟正黑體" panose="020B0604030504040204" pitchFamily="34" charset="-120"/>
              <a:cs typeface="Calibri (MS) Bold"/>
              <a:sym typeface="Calibri (MS) Bold"/>
            </a:endParaRPr>
          </a:p>
        </p:txBody>
      </p:sp>
      <p:sp>
        <p:nvSpPr>
          <p:cNvPr id="94" name="TextBox 31">
            <a:extLst>
              <a:ext uri="{FF2B5EF4-FFF2-40B4-BE49-F238E27FC236}">
                <a16:creationId xmlns:a16="http://schemas.microsoft.com/office/drawing/2014/main" id="{69417026-EF3C-4E18-9871-E98FC1592EE9}"/>
              </a:ext>
            </a:extLst>
          </p:cNvPr>
          <p:cNvSpPr txBox="1"/>
          <p:nvPr/>
        </p:nvSpPr>
        <p:spPr>
          <a:xfrm>
            <a:off x="1028700" y="9432664"/>
            <a:ext cx="1075871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1"/>
              </a:lnSpc>
              <a:spcBef>
                <a:spcPct val="0"/>
              </a:spcBef>
            </a:pPr>
            <a:r>
              <a:rPr lang="en-US" sz="2351" spc="3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Noto Sans"/>
                <a:sym typeface="Noto Sans"/>
              </a:rPr>
              <a:t>API </a:t>
            </a:r>
            <a:r>
              <a:rPr lang="en-US" sz="2351" spc="3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Noto Sans"/>
                <a:sym typeface="Noto Sans"/>
              </a:rPr>
              <a:t>延遲不含每次評值間</a:t>
            </a:r>
            <a:r>
              <a:rPr lang="en-US" sz="2351" spc="3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Noto Sans"/>
                <a:sym typeface="Noto Sans"/>
              </a:rPr>
              <a:t> 5 </a:t>
            </a:r>
            <a:r>
              <a:rPr lang="en-US" sz="2351" spc="3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Noto Sans"/>
                <a:sym typeface="Noto Sans"/>
              </a:rPr>
              <a:t>秒的呼叫間隔；中位數</a:t>
            </a:r>
            <a:r>
              <a:rPr lang="en-US" sz="2351" spc="3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Noto Sans"/>
                <a:sym typeface="Noto Sans"/>
              </a:rPr>
              <a:t> 2230.34 ms、P95 2600.47 </a:t>
            </a:r>
            <a:r>
              <a:rPr lang="en-US" sz="2351" spc="3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Noto Sans"/>
                <a:sym typeface="Noto Sans"/>
              </a:rPr>
              <a:t>ms</a:t>
            </a:r>
            <a:endParaRPr lang="en-US" sz="2351" spc="3" dirty="0">
              <a:solidFill>
                <a:schemeClr val="bg1"/>
              </a:solidFill>
              <a:latin typeface="Arial Unicode MS" panose="020B0604020202020204" pitchFamily="34" charset="-120"/>
              <a:ea typeface="微軟正黑體" panose="020B0604030504040204" pitchFamily="34" charset="-120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640678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6A71-9729-2DB2-82F7-A434F5D7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F702D0-270D-AE3C-DD65-BEACBA43525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F71F610-DB9C-B4A3-2827-B04F85FA30F8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9DADB1C-C640-9D70-1F64-0E67A6E34450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A84400-975B-48C6-448A-84F7125E5D28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15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D3CDD9E-2610-3F53-F09A-96C6BFD71370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74" name="Freeform 11">
            <a:extLst>
              <a:ext uri="{FF2B5EF4-FFF2-40B4-BE49-F238E27FC236}">
                <a16:creationId xmlns:a16="http://schemas.microsoft.com/office/drawing/2014/main" id="{9F6779F7-EBD1-4901-AE4E-9D4375E0096A}"/>
              </a:ext>
            </a:extLst>
          </p:cNvPr>
          <p:cNvSpPr/>
          <p:nvPr/>
        </p:nvSpPr>
        <p:spPr>
          <a:xfrm>
            <a:off x="725372" y="1720657"/>
            <a:ext cx="16609337" cy="996656"/>
          </a:xfrm>
          <a:custGeom>
            <a:avLst/>
            <a:gdLst/>
            <a:ahLst/>
            <a:cxnLst/>
            <a:rect l="l" t="t" r="r" b="b"/>
            <a:pathLst>
              <a:path w="22145782" h="1328874">
                <a:moveTo>
                  <a:pt x="0" y="0"/>
                </a:moveTo>
                <a:lnTo>
                  <a:pt x="22145782" y="0"/>
                </a:lnTo>
                <a:lnTo>
                  <a:pt x="22145782" y="1328874"/>
                </a:lnTo>
                <a:lnTo>
                  <a:pt x="0" y="1328874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t="-288910" b="-260528"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FACC4235-023C-46BE-8CF1-FF9C1412A84F}"/>
              </a:ext>
            </a:extLst>
          </p:cNvPr>
          <p:cNvSpPr txBox="1"/>
          <p:nvPr/>
        </p:nvSpPr>
        <p:spPr>
          <a:xfrm>
            <a:off x="953291" y="1934368"/>
            <a:ext cx="16609333" cy="10752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943"/>
              </a:lnSpc>
            </a:pPr>
            <a:r>
              <a:rPr lang="en-US" sz="5000" b="1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結果</a:t>
            </a:r>
            <a:r>
              <a:rPr lang="zh-TW" altLang="en-US" sz="5000" b="1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二</a:t>
            </a:r>
            <a:r>
              <a:rPr lang="en-US" sz="5000" b="1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：</a:t>
            </a:r>
            <a:r>
              <a:rPr lang="zh-TW" altLang="en-US" sz="5000" b="1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重複執行的穩定性</a:t>
            </a:r>
            <a:endParaRPr lang="en-US" sz="5000" b="1" dirty="0">
              <a:solidFill>
                <a:schemeClr val="bg1"/>
              </a:solidFill>
              <a:latin typeface="Arial Unicode MS" panose="020B0604020202020204" pitchFamily="34" charset="-120"/>
              <a:ea typeface="微軟正黑體" panose="020B0604030504040204" pitchFamily="34" charset="-120"/>
              <a:cs typeface="Calibri (MS) Bold"/>
              <a:sym typeface="Calibri (MS) Bold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3B613316-045F-4112-8A61-F5037727C1ED}"/>
              </a:ext>
            </a:extLst>
          </p:cNvPr>
          <p:cNvSpPr/>
          <p:nvPr/>
        </p:nvSpPr>
        <p:spPr>
          <a:xfrm>
            <a:off x="6192558" y="3622598"/>
            <a:ext cx="5659157" cy="4442935"/>
          </a:xfrm>
          <a:custGeom>
            <a:avLst/>
            <a:gdLst/>
            <a:ahLst/>
            <a:cxnLst/>
            <a:rect l="l" t="t" r="r" b="b"/>
            <a:pathLst>
              <a:path w="5659157" h="4442935">
                <a:moveTo>
                  <a:pt x="0" y="0"/>
                </a:moveTo>
                <a:lnTo>
                  <a:pt x="5659157" y="0"/>
                </a:lnTo>
                <a:lnTo>
                  <a:pt x="5659157" y="4442934"/>
                </a:lnTo>
                <a:lnTo>
                  <a:pt x="0" y="444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4345A871-F72B-4054-A74D-011ACFE63C86}"/>
              </a:ext>
            </a:extLst>
          </p:cNvPr>
          <p:cNvSpPr/>
          <p:nvPr/>
        </p:nvSpPr>
        <p:spPr>
          <a:xfrm>
            <a:off x="533400" y="3622598"/>
            <a:ext cx="5659157" cy="4442935"/>
          </a:xfrm>
          <a:custGeom>
            <a:avLst/>
            <a:gdLst/>
            <a:ahLst/>
            <a:cxnLst/>
            <a:rect l="l" t="t" r="r" b="b"/>
            <a:pathLst>
              <a:path w="5659157" h="4442935">
                <a:moveTo>
                  <a:pt x="0" y="0"/>
                </a:moveTo>
                <a:lnTo>
                  <a:pt x="5659158" y="0"/>
                </a:lnTo>
                <a:lnTo>
                  <a:pt x="5659158" y="4442934"/>
                </a:lnTo>
                <a:lnTo>
                  <a:pt x="0" y="444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15FFA557-2ABE-4543-98A7-4CA2C1565456}"/>
              </a:ext>
            </a:extLst>
          </p:cNvPr>
          <p:cNvSpPr/>
          <p:nvPr/>
        </p:nvSpPr>
        <p:spPr>
          <a:xfrm>
            <a:off x="11851715" y="3622598"/>
            <a:ext cx="5659157" cy="4442935"/>
          </a:xfrm>
          <a:custGeom>
            <a:avLst/>
            <a:gdLst/>
            <a:ahLst/>
            <a:cxnLst/>
            <a:rect l="l" t="t" r="r" b="b"/>
            <a:pathLst>
              <a:path w="5659157" h="4442935">
                <a:moveTo>
                  <a:pt x="0" y="0"/>
                </a:moveTo>
                <a:lnTo>
                  <a:pt x="5659158" y="0"/>
                </a:lnTo>
                <a:lnTo>
                  <a:pt x="5659158" y="4442934"/>
                </a:lnTo>
                <a:lnTo>
                  <a:pt x="0" y="444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1835D201-D89A-4CFB-8693-E9D2D96093E7}"/>
              </a:ext>
            </a:extLst>
          </p:cNvPr>
          <p:cNvSpPr/>
          <p:nvPr/>
        </p:nvSpPr>
        <p:spPr>
          <a:xfrm>
            <a:off x="1026800" y="8420259"/>
            <a:ext cx="16600418" cy="877851"/>
          </a:xfrm>
          <a:custGeom>
            <a:avLst/>
            <a:gdLst/>
            <a:ahLst/>
            <a:cxnLst/>
            <a:rect l="l" t="t" r="r" b="b"/>
            <a:pathLst>
              <a:path w="16600418" h="877851">
                <a:moveTo>
                  <a:pt x="0" y="0"/>
                </a:moveTo>
                <a:lnTo>
                  <a:pt x="16600418" y="0"/>
                </a:lnTo>
                <a:lnTo>
                  <a:pt x="16600418" y="877851"/>
                </a:lnTo>
                <a:lnTo>
                  <a:pt x="0" y="877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5799" b="-15799"/>
            </a:stretch>
          </a:blipFill>
        </p:spPr>
        <p:txBody>
          <a:bodyPr/>
          <a:lstStyle/>
          <a:p>
            <a:endParaRPr lang="zh-TW" altLang="en-US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A7C35CF0-77AE-48C0-BF40-C9317FCE6197}"/>
              </a:ext>
            </a:extLst>
          </p:cNvPr>
          <p:cNvSpPr txBox="1"/>
          <p:nvPr/>
        </p:nvSpPr>
        <p:spPr>
          <a:xfrm>
            <a:off x="953291" y="2922305"/>
            <a:ext cx="12431455" cy="4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1"/>
              </a:lnSpc>
              <a:spcBef>
                <a:spcPct val="0"/>
              </a:spcBef>
            </a:pPr>
            <a:r>
              <a:rPr lang="en-US" sz="2800" b="1" spc="4" dirty="0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102 </a:t>
            </a:r>
            <a:r>
              <a:rPr lang="en-US" sz="2800" spc="4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筆案例皆完成三次有效評值</a:t>
            </a:r>
            <a:r>
              <a:rPr lang="en-US" sz="2800" b="1" spc="4" dirty="0" err="1">
                <a:solidFill>
                  <a:schemeClr val="bg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；以三次評值逐構面完全一致的比例衡量</a:t>
            </a:r>
            <a:endParaRPr lang="en-US" sz="2800" b="1" spc="4" dirty="0">
              <a:solidFill>
                <a:schemeClr val="bg1"/>
              </a:solidFill>
              <a:latin typeface="Arial Unicode MS" panose="020B0604020202020204" pitchFamily="34" charset="-120"/>
              <a:ea typeface="微軟正黑體" panose="020B0604030504040204" pitchFamily="34" charset="-120"/>
              <a:cs typeface="Calibri (MS) Bold"/>
              <a:sym typeface="Calibri (MS) Bold"/>
            </a:endParaRP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0469737E-5719-489B-9C58-C5F6112A1802}"/>
              </a:ext>
            </a:extLst>
          </p:cNvPr>
          <p:cNvSpPr txBox="1"/>
          <p:nvPr/>
        </p:nvSpPr>
        <p:spPr>
          <a:xfrm>
            <a:off x="1044217" y="4003598"/>
            <a:ext cx="5659157" cy="524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1"/>
              </a:lnSpc>
              <a:spcBef>
                <a:spcPct val="0"/>
              </a:spcBef>
            </a:pPr>
            <a:r>
              <a:rPr lang="en-US" sz="3551" b="1" spc="5">
                <a:solidFill>
                  <a:srgbClr val="0A827B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Confidentiality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26EF8143-F936-4E35-880C-C57A0641AAA3}"/>
              </a:ext>
            </a:extLst>
          </p:cNvPr>
          <p:cNvSpPr txBox="1"/>
          <p:nvPr/>
        </p:nvSpPr>
        <p:spPr>
          <a:xfrm>
            <a:off x="6703374" y="4003598"/>
            <a:ext cx="5659157" cy="524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1"/>
              </a:lnSpc>
              <a:spcBef>
                <a:spcPct val="0"/>
              </a:spcBef>
            </a:pPr>
            <a:r>
              <a:rPr lang="en-US" sz="3551" b="1" spc="3">
                <a:solidFill>
                  <a:srgbClr val="0A827B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Integrity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85BEB0E3-6E3C-4F9B-BDDA-C0E871A9507B}"/>
              </a:ext>
            </a:extLst>
          </p:cNvPr>
          <p:cNvSpPr txBox="1"/>
          <p:nvPr/>
        </p:nvSpPr>
        <p:spPr>
          <a:xfrm>
            <a:off x="12362532" y="4003598"/>
            <a:ext cx="5659157" cy="524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1"/>
              </a:lnSpc>
              <a:spcBef>
                <a:spcPct val="0"/>
              </a:spcBef>
            </a:pPr>
            <a:r>
              <a:rPr lang="en-US" sz="3551" b="1" spc="3">
                <a:solidFill>
                  <a:srgbClr val="0A827B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Availability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692E7CF9-5882-45DE-B713-BCB985C4694E}"/>
              </a:ext>
            </a:extLst>
          </p:cNvPr>
          <p:cNvSpPr txBox="1"/>
          <p:nvPr/>
        </p:nvSpPr>
        <p:spPr>
          <a:xfrm>
            <a:off x="1044217" y="4594148"/>
            <a:ext cx="5659157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39"/>
              </a:lnSpc>
              <a:spcBef>
                <a:spcPct val="0"/>
              </a:spcBef>
            </a:pPr>
            <a:r>
              <a:rPr lang="en-US" sz="8199" b="1" spc="13">
                <a:solidFill>
                  <a:srgbClr val="14365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100%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07D1A27B-3D3E-4D11-8B32-37B45BBDAB14}"/>
              </a:ext>
            </a:extLst>
          </p:cNvPr>
          <p:cNvSpPr txBox="1"/>
          <p:nvPr/>
        </p:nvSpPr>
        <p:spPr>
          <a:xfrm>
            <a:off x="6703374" y="4594148"/>
            <a:ext cx="5659157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39"/>
              </a:lnSpc>
              <a:spcBef>
                <a:spcPct val="0"/>
              </a:spcBef>
            </a:pPr>
            <a:r>
              <a:rPr lang="en-US" sz="8199" b="1" spc="8">
                <a:solidFill>
                  <a:srgbClr val="14365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98.04%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53DD8B62-4973-4A67-8526-5D7EBB9E978E}"/>
              </a:ext>
            </a:extLst>
          </p:cNvPr>
          <p:cNvSpPr txBox="1"/>
          <p:nvPr/>
        </p:nvSpPr>
        <p:spPr>
          <a:xfrm>
            <a:off x="12362532" y="4594148"/>
            <a:ext cx="5659157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39"/>
              </a:lnSpc>
              <a:spcBef>
                <a:spcPct val="0"/>
              </a:spcBef>
            </a:pPr>
            <a:r>
              <a:rPr lang="en-US" sz="8199" b="1" spc="8">
                <a:solidFill>
                  <a:srgbClr val="143651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91.18%</a:t>
            </a: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0AE6C840-E282-45E3-B290-BA09EB392E82}"/>
              </a:ext>
            </a:extLst>
          </p:cNvPr>
          <p:cNvSpPr txBox="1"/>
          <p:nvPr/>
        </p:nvSpPr>
        <p:spPr>
          <a:xfrm>
            <a:off x="1044217" y="6099098"/>
            <a:ext cx="5659157" cy="44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1"/>
              </a:lnSpc>
              <a:spcBef>
                <a:spcPct val="0"/>
              </a:spcBef>
            </a:pPr>
            <a:r>
              <a:rPr lang="en-US" sz="3051" spc="5">
                <a:solidFill>
                  <a:srgbClr val="7E98A7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"/>
                <a:sym typeface="Calibri (MS)"/>
              </a:rPr>
              <a:t>102 / 102 案例一致</a:t>
            </a:r>
          </a:p>
        </p:txBody>
      </p:sp>
      <p:sp>
        <p:nvSpPr>
          <p:cNvPr id="42" name="TextBox 28">
            <a:extLst>
              <a:ext uri="{FF2B5EF4-FFF2-40B4-BE49-F238E27FC236}">
                <a16:creationId xmlns:a16="http://schemas.microsoft.com/office/drawing/2014/main" id="{8AC97586-F211-4A0C-8437-2AA4CE130ED6}"/>
              </a:ext>
            </a:extLst>
          </p:cNvPr>
          <p:cNvSpPr txBox="1"/>
          <p:nvPr/>
        </p:nvSpPr>
        <p:spPr>
          <a:xfrm>
            <a:off x="6703374" y="6099098"/>
            <a:ext cx="5659157" cy="44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1"/>
              </a:lnSpc>
              <a:spcBef>
                <a:spcPct val="0"/>
              </a:spcBef>
            </a:pPr>
            <a:r>
              <a:rPr lang="en-US" sz="3051" spc="5">
                <a:solidFill>
                  <a:srgbClr val="7E98A7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"/>
                <a:sym typeface="Calibri (MS)"/>
              </a:rPr>
              <a:t>100 / 102 案例一致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99AD566B-1DB6-4F89-AFC5-BEE8FA29B8D5}"/>
              </a:ext>
            </a:extLst>
          </p:cNvPr>
          <p:cNvSpPr txBox="1"/>
          <p:nvPr/>
        </p:nvSpPr>
        <p:spPr>
          <a:xfrm>
            <a:off x="12362532" y="6099098"/>
            <a:ext cx="5659157" cy="44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1"/>
              </a:lnSpc>
              <a:spcBef>
                <a:spcPct val="0"/>
              </a:spcBef>
            </a:pPr>
            <a:r>
              <a:rPr lang="en-US" sz="3051" spc="5">
                <a:solidFill>
                  <a:srgbClr val="7E98A7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"/>
                <a:sym typeface="Calibri (MS)"/>
              </a:rPr>
              <a:t>93 / 102 案例一致</a:t>
            </a:r>
          </a:p>
        </p:txBody>
      </p:sp>
      <p:sp>
        <p:nvSpPr>
          <p:cNvPr id="44" name="TextBox 30">
            <a:extLst>
              <a:ext uri="{FF2B5EF4-FFF2-40B4-BE49-F238E27FC236}">
                <a16:creationId xmlns:a16="http://schemas.microsoft.com/office/drawing/2014/main" id="{D35014C1-5E69-4963-BD6C-3E0B44BF63EC}"/>
              </a:ext>
            </a:extLst>
          </p:cNvPr>
          <p:cNvSpPr txBox="1"/>
          <p:nvPr/>
        </p:nvSpPr>
        <p:spPr>
          <a:xfrm>
            <a:off x="1347172" y="8624216"/>
            <a:ext cx="8547222" cy="449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  <a:spcBef>
                <a:spcPct val="0"/>
              </a:spcBef>
            </a:pPr>
            <a:r>
              <a:rPr lang="en-US" sz="3051" b="1" spc="5" dirty="0">
                <a:solidFill>
                  <a:srgbClr val="FFFFFF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I 有 2 </a:t>
            </a:r>
            <a:r>
              <a:rPr lang="en-US" sz="3051" b="1" spc="5" dirty="0" err="1">
                <a:solidFill>
                  <a:srgbClr val="FFFFFF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筆、A</a:t>
            </a:r>
            <a:r>
              <a:rPr lang="en-US" sz="3051" b="1" spc="5" dirty="0">
                <a:solidFill>
                  <a:srgbClr val="FFFFFF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 有 9 </a:t>
            </a:r>
            <a:r>
              <a:rPr lang="en-US" sz="3051" b="1" spc="5" dirty="0" err="1">
                <a:solidFill>
                  <a:srgbClr val="FFFFFF"/>
                </a:solidFill>
                <a:latin typeface="Arial Unicode MS" panose="020B0604020202020204" pitchFamily="34" charset="-120"/>
                <a:ea typeface="微軟正黑體" panose="020B0604030504040204" pitchFamily="34" charset="-120"/>
                <a:cs typeface="Calibri (MS) Bold"/>
                <a:sym typeface="Calibri (MS) Bold"/>
              </a:rPr>
              <a:t>筆出現變動，且全部僅相差一級</a:t>
            </a:r>
            <a:endParaRPr lang="en-US" sz="3051" b="1" spc="5" dirty="0">
              <a:solidFill>
                <a:srgbClr val="FFFFFF"/>
              </a:solidFill>
              <a:latin typeface="Arial Unicode MS" panose="020B0604020202020204" pitchFamily="34" charset="-120"/>
              <a:ea typeface="微軟正黑體" panose="020B0604030504040204" pitchFamily="34" charset="-120"/>
              <a:cs typeface="Calibri (MS) Bold"/>
              <a:sym typeface="Calibri (MS) Bold"/>
            </a:endParaRPr>
          </a:p>
        </p:txBody>
      </p:sp>
      <p:sp>
        <p:nvSpPr>
          <p:cNvPr id="45" name="Bar fill">
            <a:extLst>
              <a:ext uri="{FF2B5EF4-FFF2-40B4-BE49-F238E27FC236}">
                <a16:creationId xmlns:a16="http://schemas.microsoft.com/office/drawing/2014/main" id="{FB304E66-2568-4B02-A837-E31B24C9942D}"/>
              </a:ext>
            </a:extLst>
          </p:cNvPr>
          <p:cNvSpPr/>
          <p:nvPr/>
        </p:nvSpPr>
        <p:spPr>
          <a:xfrm>
            <a:off x="1034057" y="7100760"/>
            <a:ext cx="4637524" cy="1889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Bar fill">
            <a:extLst>
              <a:ext uri="{FF2B5EF4-FFF2-40B4-BE49-F238E27FC236}">
                <a16:creationId xmlns:a16="http://schemas.microsoft.com/office/drawing/2014/main" id="{E624DEF0-4C7D-4BAF-B114-C1D094F9D74E}"/>
              </a:ext>
            </a:extLst>
          </p:cNvPr>
          <p:cNvSpPr/>
          <p:nvPr/>
        </p:nvSpPr>
        <p:spPr>
          <a:xfrm>
            <a:off x="6620703" y="7100760"/>
            <a:ext cx="4637524" cy="1889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Bar fill">
            <a:extLst>
              <a:ext uri="{FF2B5EF4-FFF2-40B4-BE49-F238E27FC236}">
                <a16:creationId xmlns:a16="http://schemas.microsoft.com/office/drawing/2014/main" id="{1DF08164-8443-4740-ABE1-B67EE4034F6F}"/>
              </a:ext>
            </a:extLst>
          </p:cNvPr>
          <p:cNvSpPr/>
          <p:nvPr/>
        </p:nvSpPr>
        <p:spPr>
          <a:xfrm>
            <a:off x="12279860" y="7117638"/>
            <a:ext cx="4637524" cy="188963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Arial Unicode MS" panose="020B060402020202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5595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7E4B6-5664-B274-2A5E-D011ABA6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7AE6D5-F172-5A36-BDCA-073A7609E4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27772A4-24A8-800B-C676-E6AB566A3492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575A347-ECE1-49D8-1732-9310B5638F10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67915A9-E7F1-F5ED-8980-8AF0774CB23F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16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6630D60-3AEE-416D-3C27-FB39A39F5688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grpSp>
        <p:nvGrpSpPr>
          <p:cNvPr id="72" name="Group 10">
            <a:extLst>
              <a:ext uri="{FF2B5EF4-FFF2-40B4-BE49-F238E27FC236}">
                <a16:creationId xmlns:a16="http://schemas.microsoft.com/office/drawing/2014/main" id="{ED80E04C-3E67-A861-510A-A5E8F6B3599B}"/>
              </a:ext>
            </a:extLst>
          </p:cNvPr>
          <p:cNvGrpSpPr/>
          <p:nvPr/>
        </p:nvGrpSpPr>
        <p:grpSpPr>
          <a:xfrm>
            <a:off x="1028700" y="1904969"/>
            <a:ext cx="16609333" cy="809418"/>
            <a:chOff x="0" y="0"/>
            <a:chExt cx="22145777" cy="1079224"/>
          </a:xfrm>
        </p:grpSpPr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DD9DF1A8-A14D-9EF1-964B-6705E46FCD56}"/>
                </a:ext>
              </a:extLst>
            </p:cNvPr>
            <p:cNvSpPr/>
            <p:nvPr/>
          </p:nvSpPr>
          <p:spPr>
            <a:xfrm>
              <a:off x="0" y="0"/>
              <a:ext cx="22145782" cy="1079218"/>
            </a:xfrm>
            <a:custGeom>
              <a:avLst/>
              <a:gdLst/>
              <a:ahLst/>
              <a:cxnLst/>
              <a:rect l="l" t="t" r="r" b="b"/>
              <a:pathLst>
                <a:path w="22145782" h="1079218">
                  <a:moveTo>
                    <a:pt x="0" y="0"/>
                  </a:moveTo>
                  <a:lnTo>
                    <a:pt x="22145782" y="0"/>
                  </a:lnTo>
                  <a:lnTo>
                    <a:pt x="22145782" y="1079218"/>
                  </a:lnTo>
                  <a:lnTo>
                    <a:pt x="0" y="10792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5743" b="-343930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4" name="TextBox 12">
              <a:extLst>
                <a:ext uri="{FF2B5EF4-FFF2-40B4-BE49-F238E27FC236}">
                  <a16:creationId xmlns:a16="http://schemas.microsoft.com/office/drawing/2014/main" id="{5DDCC42B-73DA-BE3C-E717-000C6649D298}"/>
                </a:ext>
              </a:extLst>
            </p:cNvPr>
            <p:cNvSpPr txBox="1"/>
            <p:nvPr/>
          </p:nvSpPr>
          <p:spPr>
            <a:xfrm>
              <a:off x="0" y="-76200"/>
              <a:ext cx="22145777" cy="1155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3"/>
                </a:lnSpc>
              </a:pPr>
              <a:r>
                <a:rPr lang="en-US" sz="4000" b="1" spc="6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Human-in-the-Loop </a:t>
              </a:r>
              <a:r>
                <a:rPr lang="zh-TW" altLang="en-US" sz="4000" b="1" spc="6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人機協作</a:t>
              </a:r>
              <a:endParaRPr lang="en-US" altLang="zh-TW" sz="4000" b="1" spc="6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78" name="Group 16">
            <a:extLst>
              <a:ext uri="{FF2B5EF4-FFF2-40B4-BE49-F238E27FC236}">
                <a16:creationId xmlns:a16="http://schemas.microsoft.com/office/drawing/2014/main" id="{70D00AE4-9173-238D-2C8C-A5E4733B5E90}"/>
              </a:ext>
            </a:extLst>
          </p:cNvPr>
          <p:cNvGrpSpPr/>
          <p:nvPr/>
        </p:nvGrpSpPr>
        <p:grpSpPr>
          <a:xfrm>
            <a:off x="1056409" y="3158676"/>
            <a:ext cx="4598451" cy="4323921"/>
            <a:chOff x="0" y="0"/>
            <a:chExt cx="6131268" cy="5765228"/>
          </a:xfrm>
        </p:grpSpPr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68BFF2FE-16B6-FA1B-44BF-15CE36F7CBC9}"/>
                </a:ext>
              </a:extLst>
            </p:cNvPr>
            <p:cNvSpPr/>
            <p:nvPr/>
          </p:nvSpPr>
          <p:spPr>
            <a:xfrm>
              <a:off x="0" y="0"/>
              <a:ext cx="6131306" cy="5765165"/>
            </a:xfrm>
            <a:custGeom>
              <a:avLst/>
              <a:gdLst/>
              <a:ahLst/>
              <a:cxnLst/>
              <a:rect l="l" t="t" r="r" b="b"/>
              <a:pathLst>
                <a:path w="6131306" h="5765165">
                  <a:moveTo>
                    <a:pt x="0" y="960882"/>
                  </a:moveTo>
                  <a:cubicBezTo>
                    <a:pt x="0" y="430149"/>
                    <a:pt x="430149" y="0"/>
                    <a:pt x="960882" y="0"/>
                  </a:cubicBezTo>
                  <a:lnTo>
                    <a:pt x="5170424" y="0"/>
                  </a:lnTo>
                  <a:cubicBezTo>
                    <a:pt x="5701157" y="0"/>
                    <a:pt x="6131306" y="430149"/>
                    <a:pt x="6131306" y="960882"/>
                  </a:cubicBezTo>
                  <a:lnTo>
                    <a:pt x="6131306" y="4804283"/>
                  </a:lnTo>
                  <a:cubicBezTo>
                    <a:pt x="6131306" y="5335016"/>
                    <a:pt x="5701157" y="5765165"/>
                    <a:pt x="5170424" y="5765165"/>
                  </a:cubicBezTo>
                  <a:lnTo>
                    <a:pt x="960882" y="5765165"/>
                  </a:lnTo>
                  <a:cubicBezTo>
                    <a:pt x="430149" y="5765165"/>
                    <a:pt x="0" y="5335016"/>
                    <a:pt x="0" y="48042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0" name="Group 18">
            <a:extLst>
              <a:ext uri="{FF2B5EF4-FFF2-40B4-BE49-F238E27FC236}">
                <a16:creationId xmlns:a16="http://schemas.microsoft.com/office/drawing/2014/main" id="{226F5764-26C3-2562-98C0-75DCA1FF91BA}"/>
              </a:ext>
            </a:extLst>
          </p:cNvPr>
          <p:cNvGrpSpPr/>
          <p:nvPr/>
        </p:nvGrpSpPr>
        <p:grpSpPr>
          <a:xfrm>
            <a:off x="1358399" y="3433215"/>
            <a:ext cx="3980755" cy="521616"/>
            <a:chOff x="0" y="0"/>
            <a:chExt cx="5307673" cy="695487"/>
          </a:xfrm>
        </p:grpSpPr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9E2E2F68-048D-A25C-A1FC-BBA094E0D481}"/>
                </a:ext>
              </a:extLst>
            </p:cNvPr>
            <p:cNvSpPr/>
            <p:nvPr/>
          </p:nvSpPr>
          <p:spPr>
            <a:xfrm>
              <a:off x="0" y="0"/>
              <a:ext cx="5307667" cy="695485"/>
            </a:xfrm>
            <a:custGeom>
              <a:avLst/>
              <a:gdLst/>
              <a:ahLst/>
              <a:cxnLst/>
              <a:rect l="l" t="t" r="r" b="b"/>
              <a:pathLst>
                <a:path w="5307667" h="695485">
                  <a:moveTo>
                    <a:pt x="0" y="0"/>
                  </a:moveTo>
                  <a:lnTo>
                    <a:pt x="5307667" y="0"/>
                  </a:lnTo>
                  <a:lnTo>
                    <a:pt x="5307667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701" b="-9870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2" name="TextBox 20">
              <a:extLst>
                <a:ext uri="{FF2B5EF4-FFF2-40B4-BE49-F238E27FC236}">
                  <a16:creationId xmlns:a16="http://schemas.microsoft.com/office/drawing/2014/main" id="{E0C73AD5-396E-F60D-EEB2-65559DAA132A}"/>
                </a:ext>
              </a:extLst>
            </p:cNvPr>
            <p:cNvSpPr txBox="1"/>
            <p:nvPr/>
          </p:nvSpPr>
          <p:spPr>
            <a:xfrm>
              <a:off x="0" y="-38100"/>
              <a:ext cx="5307673" cy="733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600" b="1" spc="4" dirty="0">
                  <a:solidFill>
                    <a:srgbClr val="1CB9B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01  </a:t>
              </a:r>
              <a:r>
                <a:rPr lang="en-US" sz="2600" b="1" spc="4" dirty="0" err="1">
                  <a:solidFill>
                    <a:srgbClr val="1CB9B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原始人工值</a:t>
              </a:r>
              <a:endParaRPr lang="en-US" sz="2600" b="1" spc="4" dirty="0">
                <a:solidFill>
                  <a:srgbClr val="1CB9B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83" name="Group 21">
            <a:extLst>
              <a:ext uri="{FF2B5EF4-FFF2-40B4-BE49-F238E27FC236}">
                <a16:creationId xmlns:a16="http://schemas.microsoft.com/office/drawing/2014/main" id="{97719328-41E4-C8B7-E309-79001231F587}"/>
              </a:ext>
            </a:extLst>
          </p:cNvPr>
          <p:cNvGrpSpPr/>
          <p:nvPr/>
        </p:nvGrpSpPr>
        <p:grpSpPr>
          <a:xfrm>
            <a:off x="1330948" y="4325451"/>
            <a:ext cx="4049382" cy="892235"/>
            <a:chOff x="0" y="0"/>
            <a:chExt cx="5399176" cy="1189647"/>
          </a:xfrm>
        </p:grpSpPr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8E31635A-1C54-ECA5-0CDD-75762CB4A02C}"/>
                </a:ext>
              </a:extLst>
            </p:cNvPr>
            <p:cNvSpPr/>
            <p:nvPr/>
          </p:nvSpPr>
          <p:spPr>
            <a:xfrm>
              <a:off x="0" y="0"/>
              <a:ext cx="5399151" cy="1189609"/>
            </a:xfrm>
            <a:custGeom>
              <a:avLst/>
              <a:gdLst/>
              <a:ahLst/>
              <a:cxnLst/>
              <a:rect l="l" t="t" r="r" b="b"/>
              <a:pathLst>
                <a:path w="5399151" h="11896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5200904" y="0"/>
                  </a:lnTo>
                  <a:cubicBezTo>
                    <a:pt x="5310378" y="0"/>
                    <a:pt x="5399151" y="88773"/>
                    <a:pt x="5399151" y="198247"/>
                  </a:cubicBezTo>
                  <a:lnTo>
                    <a:pt x="5399151" y="991362"/>
                  </a:lnTo>
                  <a:cubicBezTo>
                    <a:pt x="5399151" y="1100836"/>
                    <a:pt x="5310378" y="1189609"/>
                    <a:pt x="5200904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E8F7F4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5" name="Group 23">
            <a:extLst>
              <a:ext uri="{FF2B5EF4-FFF2-40B4-BE49-F238E27FC236}">
                <a16:creationId xmlns:a16="http://schemas.microsoft.com/office/drawing/2014/main" id="{E88A9ED5-8FCA-8CF8-4CA0-8310DDC880E5}"/>
              </a:ext>
            </a:extLst>
          </p:cNvPr>
          <p:cNvGrpSpPr/>
          <p:nvPr/>
        </p:nvGrpSpPr>
        <p:grpSpPr>
          <a:xfrm>
            <a:off x="1495664" y="4394088"/>
            <a:ext cx="3706216" cy="686336"/>
            <a:chOff x="0" y="0"/>
            <a:chExt cx="4941621" cy="915115"/>
          </a:xfrm>
        </p:grpSpPr>
        <p:sp>
          <p:nvSpPr>
            <p:cNvPr id="86" name="Freeform 24">
              <a:extLst>
                <a:ext uri="{FF2B5EF4-FFF2-40B4-BE49-F238E27FC236}">
                  <a16:creationId xmlns:a16="http://schemas.microsoft.com/office/drawing/2014/main" id="{34F7608C-D86B-5514-A101-3295EC4729AF}"/>
                </a:ext>
              </a:extLst>
            </p:cNvPr>
            <p:cNvSpPr/>
            <p:nvPr/>
          </p:nvSpPr>
          <p:spPr>
            <a:xfrm>
              <a:off x="0" y="0"/>
              <a:ext cx="4941620" cy="915119"/>
            </a:xfrm>
            <a:custGeom>
              <a:avLst/>
              <a:gdLst/>
              <a:ahLst/>
              <a:cxnLst/>
              <a:rect l="l" t="t" r="r" b="b"/>
              <a:pathLst>
                <a:path w="4941620" h="915119">
                  <a:moveTo>
                    <a:pt x="0" y="0"/>
                  </a:moveTo>
                  <a:lnTo>
                    <a:pt x="4941620" y="0"/>
                  </a:lnTo>
                  <a:lnTo>
                    <a:pt x="494162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219" b="-5521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7" name="TextBox 25">
              <a:extLst>
                <a:ext uri="{FF2B5EF4-FFF2-40B4-BE49-F238E27FC236}">
                  <a16:creationId xmlns:a16="http://schemas.microsoft.com/office/drawing/2014/main" id="{BA3AA149-DB51-AB1C-BDBF-A8F454538DE1}"/>
                </a:ext>
              </a:extLst>
            </p:cNvPr>
            <p:cNvSpPr txBox="1"/>
            <p:nvPr/>
          </p:nvSpPr>
          <p:spPr>
            <a:xfrm>
              <a:off x="0" y="-66675"/>
              <a:ext cx="4941621" cy="981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5" dirty="0">
                  <a:solidFill>
                    <a:srgbClr val="13304C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C = 4</a:t>
              </a:r>
            </a:p>
          </p:txBody>
        </p:sp>
      </p:grpSp>
      <p:grpSp>
        <p:nvGrpSpPr>
          <p:cNvPr id="88" name="Group 26">
            <a:extLst>
              <a:ext uri="{FF2B5EF4-FFF2-40B4-BE49-F238E27FC236}">
                <a16:creationId xmlns:a16="http://schemas.microsoft.com/office/drawing/2014/main" id="{132E1FDF-377B-061B-6CAD-520EFEF7498C}"/>
              </a:ext>
            </a:extLst>
          </p:cNvPr>
          <p:cNvGrpSpPr/>
          <p:nvPr/>
        </p:nvGrpSpPr>
        <p:grpSpPr>
          <a:xfrm>
            <a:off x="1399576" y="5464764"/>
            <a:ext cx="3912118" cy="754971"/>
            <a:chOff x="0" y="0"/>
            <a:chExt cx="5216157" cy="1006627"/>
          </a:xfrm>
        </p:grpSpPr>
        <p:sp>
          <p:nvSpPr>
            <p:cNvPr id="89" name="Freeform 27">
              <a:extLst>
                <a:ext uri="{FF2B5EF4-FFF2-40B4-BE49-F238E27FC236}">
                  <a16:creationId xmlns:a16="http://schemas.microsoft.com/office/drawing/2014/main" id="{CD4F461D-5616-2664-878E-662539C9ECB4}"/>
                </a:ext>
              </a:extLst>
            </p:cNvPr>
            <p:cNvSpPr/>
            <p:nvPr/>
          </p:nvSpPr>
          <p:spPr>
            <a:xfrm>
              <a:off x="0" y="0"/>
              <a:ext cx="5216155" cy="1006626"/>
            </a:xfrm>
            <a:custGeom>
              <a:avLst/>
              <a:gdLst/>
              <a:ahLst/>
              <a:cxnLst/>
              <a:rect l="l" t="t" r="r" b="b"/>
              <a:pathLst>
                <a:path w="5216155" h="1006626">
                  <a:moveTo>
                    <a:pt x="0" y="0"/>
                  </a:moveTo>
                  <a:lnTo>
                    <a:pt x="5216155" y="0"/>
                  </a:lnTo>
                  <a:lnTo>
                    <a:pt x="52161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967" b="-5096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0" name="TextBox 28">
              <a:extLst>
                <a:ext uri="{FF2B5EF4-FFF2-40B4-BE49-F238E27FC236}">
                  <a16:creationId xmlns:a16="http://schemas.microsoft.com/office/drawing/2014/main" id="{81D4BD35-5BBB-029F-2A19-A7CE5A9C5515}"/>
                </a:ext>
              </a:extLst>
            </p:cNvPr>
            <p:cNvSpPr txBox="1"/>
            <p:nvPr/>
          </p:nvSpPr>
          <p:spPr>
            <a:xfrm>
              <a:off x="0" y="-38100"/>
              <a:ext cx="5216157" cy="10447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dirty="0" err="1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Calibri (MS)"/>
                </a:rPr>
                <a:t>目前正式評值</a:t>
              </a:r>
              <a:endParaRPr lang="en-US" sz="1801" dirty="0">
                <a:solidFill>
                  <a:srgbClr val="667A8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sym typeface="Calibri (MS)"/>
              </a:endParaRPr>
            </a:p>
          </p:txBody>
        </p:sp>
      </p:grpSp>
      <p:grpSp>
        <p:nvGrpSpPr>
          <p:cNvPr id="91" name="Group 29">
            <a:extLst>
              <a:ext uri="{FF2B5EF4-FFF2-40B4-BE49-F238E27FC236}">
                <a16:creationId xmlns:a16="http://schemas.microsoft.com/office/drawing/2014/main" id="{5138C688-5003-6F42-5073-C87C265A57B1}"/>
              </a:ext>
            </a:extLst>
          </p:cNvPr>
          <p:cNvGrpSpPr/>
          <p:nvPr/>
        </p:nvGrpSpPr>
        <p:grpSpPr>
          <a:xfrm>
            <a:off x="1399576" y="6658990"/>
            <a:ext cx="3912118" cy="521618"/>
            <a:chOff x="0" y="0"/>
            <a:chExt cx="5216157" cy="695490"/>
          </a:xfrm>
        </p:grpSpPr>
        <p:sp>
          <p:nvSpPr>
            <p:cNvPr id="92" name="Freeform 30">
              <a:extLst>
                <a:ext uri="{FF2B5EF4-FFF2-40B4-BE49-F238E27FC236}">
                  <a16:creationId xmlns:a16="http://schemas.microsoft.com/office/drawing/2014/main" id="{AEACADE3-BC05-F819-C010-3BFFC99A5B49}"/>
                </a:ext>
              </a:extLst>
            </p:cNvPr>
            <p:cNvSpPr/>
            <p:nvPr/>
          </p:nvSpPr>
          <p:spPr>
            <a:xfrm>
              <a:off x="0" y="0"/>
              <a:ext cx="5216155" cy="695487"/>
            </a:xfrm>
            <a:custGeom>
              <a:avLst/>
              <a:gdLst/>
              <a:ahLst/>
              <a:cxnLst/>
              <a:rect l="l" t="t" r="r" b="b"/>
              <a:pathLst>
                <a:path w="5216155" h="695487">
                  <a:moveTo>
                    <a:pt x="0" y="0"/>
                  </a:moveTo>
                  <a:lnTo>
                    <a:pt x="5216155" y="0"/>
                  </a:lnTo>
                  <a:lnTo>
                    <a:pt x="521615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137" b="-9613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3" name="TextBox 31">
              <a:extLst>
                <a:ext uri="{FF2B5EF4-FFF2-40B4-BE49-F238E27FC236}">
                  <a16:creationId xmlns:a16="http://schemas.microsoft.com/office/drawing/2014/main" id="{25B1D90B-FA53-76F1-2CE2-D1594283BDBB}"/>
                </a:ext>
              </a:extLst>
            </p:cNvPr>
            <p:cNvSpPr txBox="1"/>
            <p:nvPr/>
          </p:nvSpPr>
          <p:spPr>
            <a:xfrm>
              <a:off x="0" y="-28575"/>
              <a:ext cx="5216157" cy="724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dirty="0" err="1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原始值保留，作為比較基準</a:t>
              </a:r>
              <a:endParaRPr lang="en-US" dirty="0">
                <a:solidFill>
                  <a:srgbClr val="667A8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"/>
                <a:sym typeface="Calibri (MS)"/>
              </a:endParaRPr>
            </a:p>
          </p:txBody>
        </p:sp>
      </p:grpSp>
      <p:grpSp>
        <p:nvGrpSpPr>
          <p:cNvPr id="94" name="Group 32">
            <a:extLst>
              <a:ext uri="{FF2B5EF4-FFF2-40B4-BE49-F238E27FC236}">
                <a16:creationId xmlns:a16="http://schemas.microsoft.com/office/drawing/2014/main" id="{DF8C3638-2A91-EA78-1287-65E9A9F204F5}"/>
              </a:ext>
            </a:extLst>
          </p:cNvPr>
          <p:cNvGrpSpPr/>
          <p:nvPr/>
        </p:nvGrpSpPr>
        <p:grpSpPr>
          <a:xfrm>
            <a:off x="6409831" y="3158676"/>
            <a:ext cx="4598451" cy="4323921"/>
            <a:chOff x="0" y="0"/>
            <a:chExt cx="6131268" cy="5765228"/>
          </a:xfrm>
        </p:grpSpPr>
        <p:sp>
          <p:nvSpPr>
            <p:cNvPr id="95" name="Freeform 33">
              <a:extLst>
                <a:ext uri="{FF2B5EF4-FFF2-40B4-BE49-F238E27FC236}">
                  <a16:creationId xmlns:a16="http://schemas.microsoft.com/office/drawing/2014/main" id="{C16CC5DE-28B6-97A0-D14B-AB06EEB6168D}"/>
                </a:ext>
              </a:extLst>
            </p:cNvPr>
            <p:cNvSpPr/>
            <p:nvPr/>
          </p:nvSpPr>
          <p:spPr>
            <a:xfrm>
              <a:off x="0" y="0"/>
              <a:ext cx="6131306" cy="5765165"/>
            </a:xfrm>
            <a:custGeom>
              <a:avLst/>
              <a:gdLst/>
              <a:ahLst/>
              <a:cxnLst/>
              <a:rect l="l" t="t" r="r" b="b"/>
              <a:pathLst>
                <a:path w="6131306" h="5765165">
                  <a:moveTo>
                    <a:pt x="0" y="960882"/>
                  </a:moveTo>
                  <a:cubicBezTo>
                    <a:pt x="0" y="430149"/>
                    <a:pt x="430149" y="0"/>
                    <a:pt x="960882" y="0"/>
                  </a:cubicBezTo>
                  <a:lnTo>
                    <a:pt x="5170424" y="0"/>
                  </a:lnTo>
                  <a:cubicBezTo>
                    <a:pt x="5701157" y="0"/>
                    <a:pt x="6131306" y="430149"/>
                    <a:pt x="6131306" y="960882"/>
                  </a:cubicBezTo>
                  <a:lnTo>
                    <a:pt x="6131306" y="4804283"/>
                  </a:lnTo>
                  <a:cubicBezTo>
                    <a:pt x="6131306" y="5335016"/>
                    <a:pt x="5701157" y="5765165"/>
                    <a:pt x="5170424" y="5765165"/>
                  </a:cubicBezTo>
                  <a:lnTo>
                    <a:pt x="960882" y="5765165"/>
                  </a:lnTo>
                  <a:cubicBezTo>
                    <a:pt x="430149" y="5765165"/>
                    <a:pt x="0" y="5335016"/>
                    <a:pt x="0" y="48042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6" name="Group 34">
            <a:extLst>
              <a:ext uri="{FF2B5EF4-FFF2-40B4-BE49-F238E27FC236}">
                <a16:creationId xmlns:a16="http://schemas.microsoft.com/office/drawing/2014/main" id="{2E133813-8F5A-95FB-31C0-89BF2E1027E2}"/>
              </a:ext>
            </a:extLst>
          </p:cNvPr>
          <p:cNvGrpSpPr/>
          <p:nvPr/>
        </p:nvGrpSpPr>
        <p:grpSpPr>
          <a:xfrm>
            <a:off x="6711821" y="3433215"/>
            <a:ext cx="3980755" cy="521616"/>
            <a:chOff x="0" y="0"/>
            <a:chExt cx="5307673" cy="695487"/>
          </a:xfrm>
        </p:grpSpPr>
        <p:sp>
          <p:nvSpPr>
            <p:cNvPr id="97" name="Freeform 35">
              <a:extLst>
                <a:ext uri="{FF2B5EF4-FFF2-40B4-BE49-F238E27FC236}">
                  <a16:creationId xmlns:a16="http://schemas.microsoft.com/office/drawing/2014/main" id="{9BA9BD6E-D3BE-5919-2D43-F6F7E95C0804}"/>
                </a:ext>
              </a:extLst>
            </p:cNvPr>
            <p:cNvSpPr/>
            <p:nvPr/>
          </p:nvSpPr>
          <p:spPr>
            <a:xfrm>
              <a:off x="0" y="0"/>
              <a:ext cx="5307667" cy="695485"/>
            </a:xfrm>
            <a:custGeom>
              <a:avLst/>
              <a:gdLst/>
              <a:ahLst/>
              <a:cxnLst/>
              <a:rect l="l" t="t" r="r" b="b"/>
              <a:pathLst>
                <a:path w="5307667" h="695485">
                  <a:moveTo>
                    <a:pt x="0" y="0"/>
                  </a:moveTo>
                  <a:lnTo>
                    <a:pt x="5307667" y="0"/>
                  </a:lnTo>
                  <a:lnTo>
                    <a:pt x="5307667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701" b="-9870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8" name="TextBox 36">
              <a:extLst>
                <a:ext uri="{FF2B5EF4-FFF2-40B4-BE49-F238E27FC236}">
                  <a16:creationId xmlns:a16="http://schemas.microsoft.com/office/drawing/2014/main" id="{13927CFE-EEAB-32FD-6122-368B61C25C09}"/>
                </a:ext>
              </a:extLst>
            </p:cNvPr>
            <p:cNvSpPr txBox="1"/>
            <p:nvPr/>
          </p:nvSpPr>
          <p:spPr>
            <a:xfrm>
              <a:off x="0" y="-38100"/>
              <a:ext cx="5307673" cy="733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600" b="1" spc="4" dirty="0">
                  <a:solidFill>
                    <a:srgbClr val="3884E8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02  AI </a:t>
              </a:r>
              <a:r>
                <a:rPr lang="en-US" sz="2600" b="1" spc="4" dirty="0" err="1">
                  <a:solidFill>
                    <a:srgbClr val="3884E8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建議</a:t>
              </a:r>
              <a:endParaRPr lang="en-US" sz="2600" b="1" spc="4" dirty="0">
                <a:solidFill>
                  <a:srgbClr val="3884E8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99" name="Group 37">
            <a:extLst>
              <a:ext uri="{FF2B5EF4-FFF2-40B4-BE49-F238E27FC236}">
                <a16:creationId xmlns:a16="http://schemas.microsoft.com/office/drawing/2014/main" id="{0A38B979-429B-C143-B2FF-C87DA44C0403}"/>
              </a:ext>
            </a:extLst>
          </p:cNvPr>
          <p:cNvGrpSpPr/>
          <p:nvPr/>
        </p:nvGrpSpPr>
        <p:grpSpPr>
          <a:xfrm>
            <a:off x="6684370" y="4325451"/>
            <a:ext cx="4049382" cy="892235"/>
            <a:chOff x="0" y="0"/>
            <a:chExt cx="5399176" cy="1189647"/>
          </a:xfrm>
        </p:grpSpPr>
        <p:sp>
          <p:nvSpPr>
            <p:cNvPr id="100" name="Freeform 38">
              <a:extLst>
                <a:ext uri="{FF2B5EF4-FFF2-40B4-BE49-F238E27FC236}">
                  <a16:creationId xmlns:a16="http://schemas.microsoft.com/office/drawing/2014/main" id="{365BAC64-FA16-0972-5A13-27EBE5F74081}"/>
                </a:ext>
              </a:extLst>
            </p:cNvPr>
            <p:cNvSpPr/>
            <p:nvPr/>
          </p:nvSpPr>
          <p:spPr>
            <a:xfrm>
              <a:off x="0" y="0"/>
              <a:ext cx="5399151" cy="1189609"/>
            </a:xfrm>
            <a:custGeom>
              <a:avLst/>
              <a:gdLst/>
              <a:ahLst/>
              <a:cxnLst/>
              <a:rect l="l" t="t" r="r" b="b"/>
              <a:pathLst>
                <a:path w="5399151" h="11896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5200904" y="0"/>
                  </a:lnTo>
                  <a:cubicBezTo>
                    <a:pt x="5310378" y="0"/>
                    <a:pt x="5399151" y="88773"/>
                    <a:pt x="5399151" y="198247"/>
                  </a:cubicBezTo>
                  <a:lnTo>
                    <a:pt x="5399151" y="991362"/>
                  </a:lnTo>
                  <a:cubicBezTo>
                    <a:pt x="5399151" y="1100836"/>
                    <a:pt x="5310378" y="1189609"/>
                    <a:pt x="5200904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E6F1FB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1" name="Group 39">
            <a:extLst>
              <a:ext uri="{FF2B5EF4-FFF2-40B4-BE49-F238E27FC236}">
                <a16:creationId xmlns:a16="http://schemas.microsoft.com/office/drawing/2014/main" id="{241FE93B-3C2F-ECB7-4A24-49494D64404D}"/>
              </a:ext>
            </a:extLst>
          </p:cNvPr>
          <p:cNvGrpSpPr/>
          <p:nvPr/>
        </p:nvGrpSpPr>
        <p:grpSpPr>
          <a:xfrm>
            <a:off x="6849086" y="4394088"/>
            <a:ext cx="3706216" cy="686336"/>
            <a:chOff x="0" y="0"/>
            <a:chExt cx="4941621" cy="915115"/>
          </a:xfrm>
        </p:grpSpPr>
        <p:sp>
          <p:nvSpPr>
            <p:cNvPr id="102" name="Freeform 40">
              <a:extLst>
                <a:ext uri="{FF2B5EF4-FFF2-40B4-BE49-F238E27FC236}">
                  <a16:creationId xmlns:a16="http://schemas.microsoft.com/office/drawing/2014/main" id="{6A160E06-2708-4F46-13F5-A83BC66ECFDD}"/>
                </a:ext>
              </a:extLst>
            </p:cNvPr>
            <p:cNvSpPr/>
            <p:nvPr/>
          </p:nvSpPr>
          <p:spPr>
            <a:xfrm>
              <a:off x="0" y="0"/>
              <a:ext cx="4941620" cy="915119"/>
            </a:xfrm>
            <a:custGeom>
              <a:avLst/>
              <a:gdLst/>
              <a:ahLst/>
              <a:cxnLst/>
              <a:rect l="l" t="t" r="r" b="b"/>
              <a:pathLst>
                <a:path w="4941620" h="915119">
                  <a:moveTo>
                    <a:pt x="0" y="0"/>
                  </a:moveTo>
                  <a:lnTo>
                    <a:pt x="4941620" y="0"/>
                  </a:lnTo>
                  <a:lnTo>
                    <a:pt x="494162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219" b="-5521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" name="TextBox 41">
              <a:extLst>
                <a:ext uri="{FF2B5EF4-FFF2-40B4-BE49-F238E27FC236}">
                  <a16:creationId xmlns:a16="http://schemas.microsoft.com/office/drawing/2014/main" id="{2AE4FD83-FD1E-A4A5-0C9A-330696E5D1B0}"/>
                </a:ext>
              </a:extLst>
            </p:cNvPr>
            <p:cNvSpPr txBox="1"/>
            <p:nvPr/>
          </p:nvSpPr>
          <p:spPr>
            <a:xfrm>
              <a:off x="0" y="-66675"/>
              <a:ext cx="4941621" cy="981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5" dirty="0">
                  <a:solidFill>
                    <a:srgbClr val="13304C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C = 5</a:t>
              </a:r>
            </a:p>
          </p:txBody>
        </p:sp>
      </p:grpSp>
      <p:grpSp>
        <p:nvGrpSpPr>
          <p:cNvPr id="104" name="Group 42">
            <a:extLst>
              <a:ext uri="{FF2B5EF4-FFF2-40B4-BE49-F238E27FC236}">
                <a16:creationId xmlns:a16="http://schemas.microsoft.com/office/drawing/2014/main" id="{20C1D8B4-8CA3-D32A-BA91-18570454C3F3}"/>
              </a:ext>
            </a:extLst>
          </p:cNvPr>
          <p:cNvGrpSpPr/>
          <p:nvPr/>
        </p:nvGrpSpPr>
        <p:grpSpPr>
          <a:xfrm>
            <a:off x="6752998" y="5464764"/>
            <a:ext cx="3912118" cy="1125591"/>
            <a:chOff x="0" y="0"/>
            <a:chExt cx="5216157" cy="1500788"/>
          </a:xfrm>
        </p:grpSpPr>
        <p:sp>
          <p:nvSpPr>
            <p:cNvPr id="105" name="Freeform 43">
              <a:extLst>
                <a:ext uri="{FF2B5EF4-FFF2-40B4-BE49-F238E27FC236}">
                  <a16:creationId xmlns:a16="http://schemas.microsoft.com/office/drawing/2014/main" id="{C9449603-C4F1-957A-CB4D-D3B1E29F218D}"/>
                </a:ext>
              </a:extLst>
            </p:cNvPr>
            <p:cNvSpPr/>
            <p:nvPr/>
          </p:nvSpPr>
          <p:spPr>
            <a:xfrm>
              <a:off x="0" y="0"/>
              <a:ext cx="5216155" cy="1500793"/>
            </a:xfrm>
            <a:custGeom>
              <a:avLst/>
              <a:gdLst/>
              <a:ahLst/>
              <a:cxnLst/>
              <a:rect l="l" t="t" r="r" b="b"/>
              <a:pathLst>
                <a:path w="5216155" h="1500793">
                  <a:moveTo>
                    <a:pt x="0" y="0"/>
                  </a:moveTo>
                  <a:lnTo>
                    <a:pt x="5216155" y="0"/>
                  </a:lnTo>
                  <a:lnTo>
                    <a:pt x="5216155" y="1500793"/>
                  </a:lnTo>
                  <a:lnTo>
                    <a:pt x="0" y="15007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722" b="-17721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" name="TextBox 44">
              <a:extLst>
                <a:ext uri="{FF2B5EF4-FFF2-40B4-BE49-F238E27FC236}">
                  <a16:creationId xmlns:a16="http://schemas.microsoft.com/office/drawing/2014/main" id="{15EC6465-EFB1-FEB9-312E-E2836149CDDD}"/>
                </a:ext>
              </a:extLst>
            </p:cNvPr>
            <p:cNvSpPr txBox="1"/>
            <p:nvPr/>
          </p:nvSpPr>
          <p:spPr>
            <a:xfrm>
              <a:off x="0" y="-38100"/>
              <a:ext cx="5216157" cy="1538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pc="2" dirty="0" err="1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Reason：資料包含客戶個資，外洩可能造成隱私與合規影響</a:t>
              </a:r>
              <a:r>
                <a:rPr lang="en-US" spc="2" dirty="0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。</a:t>
              </a:r>
            </a:p>
          </p:txBody>
        </p:sp>
      </p:grpSp>
      <p:grpSp>
        <p:nvGrpSpPr>
          <p:cNvPr id="107" name="Group 45">
            <a:extLst>
              <a:ext uri="{FF2B5EF4-FFF2-40B4-BE49-F238E27FC236}">
                <a16:creationId xmlns:a16="http://schemas.microsoft.com/office/drawing/2014/main" id="{BF48691D-2F4E-91FF-AE6E-F8AF176441DC}"/>
              </a:ext>
            </a:extLst>
          </p:cNvPr>
          <p:cNvGrpSpPr/>
          <p:nvPr/>
        </p:nvGrpSpPr>
        <p:grpSpPr>
          <a:xfrm>
            <a:off x="6752998" y="6658990"/>
            <a:ext cx="3912118" cy="521618"/>
            <a:chOff x="0" y="0"/>
            <a:chExt cx="5216157" cy="695490"/>
          </a:xfrm>
        </p:grpSpPr>
        <p:sp>
          <p:nvSpPr>
            <p:cNvPr id="108" name="Freeform 46">
              <a:extLst>
                <a:ext uri="{FF2B5EF4-FFF2-40B4-BE49-F238E27FC236}">
                  <a16:creationId xmlns:a16="http://schemas.microsoft.com/office/drawing/2014/main" id="{DFFBAACE-15CB-DBFE-3905-1EB857010B22}"/>
                </a:ext>
              </a:extLst>
            </p:cNvPr>
            <p:cNvSpPr/>
            <p:nvPr/>
          </p:nvSpPr>
          <p:spPr>
            <a:xfrm>
              <a:off x="0" y="0"/>
              <a:ext cx="5216155" cy="695487"/>
            </a:xfrm>
            <a:custGeom>
              <a:avLst/>
              <a:gdLst/>
              <a:ahLst/>
              <a:cxnLst/>
              <a:rect l="l" t="t" r="r" b="b"/>
              <a:pathLst>
                <a:path w="5216155" h="695487">
                  <a:moveTo>
                    <a:pt x="0" y="0"/>
                  </a:moveTo>
                  <a:lnTo>
                    <a:pt x="5216155" y="0"/>
                  </a:lnTo>
                  <a:lnTo>
                    <a:pt x="521615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137" b="-9613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" name="TextBox 47">
              <a:extLst>
                <a:ext uri="{FF2B5EF4-FFF2-40B4-BE49-F238E27FC236}">
                  <a16:creationId xmlns:a16="http://schemas.microsoft.com/office/drawing/2014/main" id="{C83D3E13-2023-CAF1-9E0E-FABD0CB6A9A6}"/>
                </a:ext>
              </a:extLst>
            </p:cNvPr>
            <p:cNvSpPr txBox="1"/>
            <p:nvPr/>
          </p:nvSpPr>
          <p:spPr>
            <a:xfrm>
              <a:off x="0" y="-28575"/>
              <a:ext cx="5216157" cy="724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dirty="0" err="1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建議需附有可理解的理由</a:t>
              </a:r>
              <a:endParaRPr lang="en-US" dirty="0">
                <a:solidFill>
                  <a:srgbClr val="667A8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"/>
                <a:sym typeface="Calibri (MS)"/>
              </a:endParaRPr>
            </a:p>
          </p:txBody>
        </p:sp>
      </p:grpSp>
      <p:grpSp>
        <p:nvGrpSpPr>
          <p:cNvPr id="110" name="Group 48">
            <a:extLst>
              <a:ext uri="{FF2B5EF4-FFF2-40B4-BE49-F238E27FC236}">
                <a16:creationId xmlns:a16="http://schemas.microsoft.com/office/drawing/2014/main" id="{015226F7-5CAF-BD2A-3890-1A0492EA34B1}"/>
              </a:ext>
            </a:extLst>
          </p:cNvPr>
          <p:cNvGrpSpPr/>
          <p:nvPr/>
        </p:nvGrpSpPr>
        <p:grpSpPr>
          <a:xfrm>
            <a:off x="11763252" y="3158676"/>
            <a:ext cx="4598451" cy="4323921"/>
            <a:chOff x="0" y="0"/>
            <a:chExt cx="6131268" cy="5765228"/>
          </a:xfrm>
        </p:grpSpPr>
        <p:sp>
          <p:nvSpPr>
            <p:cNvPr id="111" name="Freeform 49">
              <a:extLst>
                <a:ext uri="{FF2B5EF4-FFF2-40B4-BE49-F238E27FC236}">
                  <a16:creationId xmlns:a16="http://schemas.microsoft.com/office/drawing/2014/main" id="{6A9EABB8-9689-23CE-FE83-B557DC46725E}"/>
                </a:ext>
              </a:extLst>
            </p:cNvPr>
            <p:cNvSpPr/>
            <p:nvPr/>
          </p:nvSpPr>
          <p:spPr>
            <a:xfrm>
              <a:off x="0" y="0"/>
              <a:ext cx="6131306" cy="5765165"/>
            </a:xfrm>
            <a:custGeom>
              <a:avLst/>
              <a:gdLst/>
              <a:ahLst/>
              <a:cxnLst/>
              <a:rect l="l" t="t" r="r" b="b"/>
              <a:pathLst>
                <a:path w="6131306" h="5765165">
                  <a:moveTo>
                    <a:pt x="0" y="960882"/>
                  </a:moveTo>
                  <a:cubicBezTo>
                    <a:pt x="0" y="430149"/>
                    <a:pt x="430149" y="0"/>
                    <a:pt x="960882" y="0"/>
                  </a:cubicBezTo>
                  <a:lnTo>
                    <a:pt x="5170424" y="0"/>
                  </a:lnTo>
                  <a:cubicBezTo>
                    <a:pt x="5701157" y="0"/>
                    <a:pt x="6131306" y="430149"/>
                    <a:pt x="6131306" y="960882"/>
                  </a:cubicBezTo>
                  <a:lnTo>
                    <a:pt x="6131306" y="4804283"/>
                  </a:lnTo>
                  <a:cubicBezTo>
                    <a:pt x="6131306" y="5335016"/>
                    <a:pt x="5701157" y="5765165"/>
                    <a:pt x="5170424" y="5765165"/>
                  </a:cubicBezTo>
                  <a:lnTo>
                    <a:pt x="960882" y="5765165"/>
                  </a:lnTo>
                  <a:cubicBezTo>
                    <a:pt x="430149" y="5765165"/>
                    <a:pt x="0" y="5335016"/>
                    <a:pt x="0" y="48042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2" name="Group 50">
            <a:extLst>
              <a:ext uri="{FF2B5EF4-FFF2-40B4-BE49-F238E27FC236}">
                <a16:creationId xmlns:a16="http://schemas.microsoft.com/office/drawing/2014/main" id="{6F2C39AD-2A7C-19B7-48B3-44ACBB577E0B}"/>
              </a:ext>
            </a:extLst>
          </p:cNvPr>
          <p:cNvGrpSpPr/>
          <p:nvPr/>
        </p:nvGrpSpPr>
        <p:grpSpPr>
          <a:xfrm>
            <a:off x="12065242" y="3433215"/>
            <a:ext cx="3980755" cy="521616"/>
            <a:chOff x="0" y="0"/>
            <a:chExt cx="5307673" cy="695487"/>
          </a:xfrm>
        </p:grpSpPr>
        <p:sp>
          <p:nvSpPr>
            <p:cNvPr id="113" name="Freeform 51">
              <a:extLst>
                <a:ext uri="{FF2B5EF4-FFF2-40B4-BE49-F238E27FC236}">
                  <a16:creationId xmlns:a16="http://schemas.microsoft.com/office/drawing/2014/main" id="{BEB4C39C-ADD8-DC1F-3E22-91DF0D3F47D2}"/>
                </a:ext>
              </a:extLst>
            </p:cNvPr>
            <p:cNvSpPr/>
            <p:nvPr/>
          </p:nvSpPr>
          <p:spPr>
            <a:xfrm>
              <a:off x="0" y="0"/>
              <a:ext cx="5307667" cy="695485"/>
            </a:xfrm>
            <a:custGeom>
              <a:avLst/>
              <a:gdLst/>
              <a:ahLst/>
              <a:cxnLst/>
              <a:rect l="l" t="t" r="r" b="b"/>
              <a:pathLst>
                <a:path w="5307667" h="695485">
                  <a:moveTo>
                    <a:pt x="0" y="0"/>
                  </a:moveTo>
                  <a:lnTo>
                    <a:pt x="5307667" y="0"/>
                  </a:lnTo>
                  <a:lnTo>
                    <a:pt x="5307667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701" b="-9870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4" name="TextBox 52">
              <a:extLst>
                <a:ext uri="{FF2B5EF4-FFF2-40B4-BE49-F238E27FC236}">
                  <a16:creationId xmlns:a16="http://schemas.microsoft.com/office/drawing/2014/main" id="{B25947B9-F6BE-CED0-832C-A0663147FA8F}"/>
                </a:ext>
              </a:extLst>
            </p:cNvPr>
            <p:cNvSpPr txBox="1"/>
            <p:nvPr/>
          </p:nvSpPr>
          <p:spPr>
            <a:xfrm>
              <a:off x="0" y="-38100"/>
              <a:ext cx="5307673" cy="733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600" b="1" spc="4" dirty="0">
                  <a:solidFill>
                    <a:srgbClr val="1CB9B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03  </a:t>
              </a:r>
              <a:r>
                <a:rPr lang="en-US" sz="2600" b="1" spc="4" dirty="0" err="1">
                  <a:solidFill>
                    <a:srgbClr val="1CB9B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使用者決定</a:t>
              </a:r>
              <a:endParaRPr lang="en-US" sz="2600" b="1" spc="4" dirty="0">
                <a:solidFill>
                  <a:srgbClr val="1CB9B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115" name="Group 53">
            <a:extLst>
              <a:ext uri="{FF2B5EF4-FFF2-40B4-BE49-F238E27FC236}">
                <a16:creationId xmlns:a16="http://schemas.microsoft.com/office/drawing/2014/main" id="{DCA982E6-9EA0-FF64-2B17-7F26A2692423}"/>
              </a:ext>
            </a:extLst>
          </p:cNvPr>
          <p:cNvGrpSpPr/>
          <p:nvPr/>
        </p:nvGrpSpPr>
        <p:grpSpPr>
          <a:xfrm>
            <a:off x="12106419" y="4366627"/>
            <a:ext cx="3912118" cy="754971"/>
            <a:chOff x="0" y="0"/>
            <a:chExt cx="5216157" cy="1006627"/>
          </a:xfrm>
        </p:grpSpPr>
        <p:sp>
          <p:nvSpPr>
            <p:cNvPr id="116" name="Freeform 54">
              <a:extLst>
                <a:ext uri="{FF2B5EF4-FFF2-40B4-BE49-F238E27FC236}">
                  <a16:creationId xmlns:a16="http://schemas.microsoft.com/office/drawing/2014/main" id="{4B0535EE-A25D-1B5B-5E8D-E042CA09CAAC}"/>
                </a:ext>
              </a:extLst>
            </p:cNvPr>
            <p:cNvSpPr/>
            <p:nvPr/>
          </p:nvSpPr>
          <p:spPr>
            <a:xfrm>
              <a:off x="0" y="0"/>
              <a:ext cx="5216155" cy="1006626"/>
            </a:xfrm>
            <a:custGeom>
              <a:avLst/>
              <a:gdLst/>
              <a:ahLst/>
              <a:cxnLst/>
              <a:rect l="l" t="t" r="r" b="b"/>
              <a:pathLst>
                <a:path w="5216155" h="1006626">
                  <a:moveTo>
                    <a:pt x="0" y="0"/>
                  </a:moveTo>
                  <a:lnTo>
                    <a:pt x="5216155" y="0"/>
                  </a:lnTo>
                  <a:lnTo>
                    <a:pt x="52161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967" b="-5096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7" name="TextBox 55">
              <a:extLst>
                <a:ext uri="{FF2B5EF4-FFF2-40B4-BE49-F238E27FC236}">
                  <a16:creationId xmlns:a16="http://schemas.microsoft.com/office/drawing/2014/main" id="{9905EC14-4962-5179-2EAC-DC418945957D}"/>
                </a:ext>
              </a:extLst>
            </p:cNvPr>
            <p:cNvSpPr txBox="1"/>
            <p:nvPr/>
          </p:nvSpPr>
          <p:spPr>
            <a:xfrm>
              <a:off x="0" y="-57150"/>
              <a:ext cx="5216157" cy="1063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 dirty="0">
                  <a:solidFill>
                    <a:srgbClr val="28A087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☑ </a:t>
              </a:r>
              <a:r>
                <a:rPr lang="en-US" sz="2251" b="1" dirty="0" err="1">
                  <a:solidFill>
                    <a:srgbClr val="28A087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 Bold"/>
                  <a:sym typeface="Calibri (MS) Bold"/>
                </a:rPr>
                <a:t>維持人工值</a:t>
              </a:r>
              <a:endParaRPr lang="en-US" sz="2251" b="1" dirty="0">
                <a:solidFill>
                  <a:srgbClr val="28A087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  <p:grpSp>
        <p:nvGrpSpPr>
          <p:cNvPr id="118" name="Group 56">
            <a:extLst>
              <a:ext uri="{FF2B5EF4-FFF2-40B4-BE49-F238E27FC236}">
                <a16:creationId xmlns:a16="http://schemas.microsoft.com/office/drawing/2014/main" id="{95A85288-1C57-4AFF-1931-B77017C649AF}"/>
              </a:ext>
            </a:extLst>
          </p:cNvPr>
          <p:cNvGrpSpPr/>
          <p:nvPr/>
        </p:nvGrpSpPr>
        <p:grpSpPr>
          <a:xfrm>
            <a:off x="12106419" y="5190235"/>
            <a:ext cx="3912118" cy="754971"/>
            <a:chOff x="0" y="0"/>
            <a:chExt cx="5216157" cy="1006627"/>
          </a:xfrm>
        </p:grpSpPr>
        <p:sp>
          <p:nvSpPr>
            <p:cNvPr id="119" name="Freeform 57">
              <a:extLst>
                <a:ext uri="{FF2B5EF4-FFF2-40B4-BE49-F238E27FC236}">
                  <a16:creationId xmlns:a16="http://schemas.microsoft.com/office/drawing/2014/main" id="{6CA9C9E1-F011-F645-E89E-409DB5BB2761}"/>
                </a:ext>
              </a:extLst>
            </p:cNvPr>
            <p:cNvSpPr/>
            <p:nvPr/>
          </p:nvSpPr>
          <p:spPr>
            <a:xfrm>
              <a:off x="0" y="0"/>
              <a:ext cx="5216155" cy="1006626"/>
            </a:xfrm>
            <a:custGeom>
              <a:avLst/>
              <a:gdLst/>
              <a:ahLst/>
              <a:cxnLst/>
              <a:rect l="l" t="t" r="r" b="b"/>
              <a:pathLst>
                <a:path w="5216155" h="1006626">
                  <a:moveTo>
                    <a:pt x="0" y="0"/>
                  </a:moveTo>
                  <a:lnTo>
                    <a:pt x="5216155" y="0"/>
                  </a:lnTo>
                  <a:lnTo>
                    <a:pt x="52161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967" b="-5096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0" name="TextBox 58">
              <a:extLst>
                <a:ext uri="{FF2B5EF4-FFF2-40B4-BE49-F238E27FC236}">
                  <a16:creationId xmlns:a16="http://schemas.microsoft.com/office/drawing/2014/main" id="{38D0C5ED-AF12-3A03-468D-CBEC8A7670E8}"/>
                </a:ext>
              </a:extLst>
            </p:cNvPr>
            <p:cNvSpPr txBox="1"/>
            <p:nvPr/>
          </p:nvSpPr>
          <p:spPr>
            <a:xfrm>
              <a:off x="0" y="-47625"/>
              <a:ext cx="5216157" cy="10542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dirty="0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☐ </a:t>
              </a:r>
              <a:r>
                <a:rPr lang="en-US" sz="2101" dirty="0" err="1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採用</a:t>
              </a:r>
              <a:r>
                <a:rPr lang="en-US" sz="2101" dirty="0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 AI </a:t>
              </a:r>
              <a:r>
                <a:rPr lang="en-US" sz="2101" dirty="0" err="1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建議</a:t>
              </a:r>
              <a:endParaRPr lang="en-US" sz="2101" dirty="0">
                <a:solidFill>
                  <a:srgbClr val="667A8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"/>
                <a:sym typeface="Calibri (MS)"/>
              </a:endParaRPr>
            </a:p>
          </p:txBody>
        </p:sp>
      </p:grpSp>
      <p:grpSp>
        <p:nvGrpSpPr>
          <p:cNvPr id="121" name="Group 59">
            <a:extLst>
              <a:ext uri="{FF2B5EF4-FFF2-40B4-BE49-F238E27FC236}">
                <a16:creationId xmlns:a16="http://schemas.microsoft.com/office/drawing/2014/main" id="{15220789-9659-77AB-E0C6-AA63B05E354E}"/>
              </a:ext>
            </a:extLst>
          </p:cNvPr>
          <p:cNvGrpSpPr/>
          <p:nvPr/>
        </p:nvGrpSpPr>
        <p:grpSpPr>
          <a:xfrm>
            <a:off x="12106419" y="6637559"/>
            <a:ext cx="3912118" cy="543050"/>
            <a:chOff x="0" y="-28575"/>
            <a:chExt cx="5216157" cy="724066"/>
          </a:xfrm>
        </p:grpSpPr>
        <p:sp>
          <p:nvSpPr>
            <p:cNvPr id="122" name="Freeform 60">
              <a:extLst>
                <a:ext uri="{FF2B5EF4-FFF2-40B4-BE49-F238E27FC236}">
                  <a16:creationId xmlns:a16="http://schemas.microsoft.com/office/drawing/2014/main" id="{12BEF321-33B4-5237-0365-43B9C23B9070}"/>
                </a:ext>
              </a:extLst>
            </p:cNvPr>
            <p:cNvSpPr/>
            <p:nvPr/>
          </p:nvSpPr>
          <p:spPr>
            <a:xfrm>
              <a:off x="0" y="0"/>
              <a:ext cx="5216155" cy="695487"/>
            </a:xfrm>
            <a:custGeom>
              <a:avLst/>
              <a:gdLst/>
              <a:ahLst/>
              <a:cxnLst/>
              <a:rect l="l" t="t" r="r" b="b"/>
              <a:pathLst>
                <a:path w="5216155" h="695487">
                  <a:moveTo>
                    <a:pt x="0" y="0"/>
                  </a:moveTo>
                  <a:lnTo>
                    <a:pt x="5216155" y="0"/>
                  </a:lnTo>
                  <a:lnTo>
                    <a:pt x="521615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137" b="-9613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" name="TextBox 61">
              <a:extLst>
                <a:ext uri="{FF2B5EF4-FFF2-40B4-BE49-F238E27FC236}">
                  <a16:creationId xmlns:a16="http://schemas.microsoft.com/office/drawing/2014/main" id="{BA549B25-A1C4-D318-52A2-5E39A41B8DAE}"/>
                </a:ext>
              </a:extLst>
            </p:cNvPr>
            <p:cNvSpPr txBox="1"/>
            <p:nvPr/>
          </p:nvSpPr>
          <p:spPr>
            <a:xfrm>
              <a:off x="0" y="-28575"/>
              <a:ext cx="5216157" cy="7240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dirty="0" err="1">
                  <a:solidFill>
                    <a:srgbClr val="667A8C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Calibri (MS)"/>
                  <a:sym typeface="Calibri (MS)"/>
                </a:rPr>
                <a:t>由使用者決定是否覆寫</a:t>
              </a:r>
              <a:endParaRPr lang="en-US" dirty="0">
                <a:solidFill>
                  <a:srgbClr val="667A8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 (MS)"/>
                <a:sym typeface="Calibri (MS)"/>
              </a:endParaRPr>
            </a:p>
          </p:txBody>
        </p:sp>
      </p:grpSp>
      <p:grpSp>
        <p:nvGrpSpPr>
          <p:cNvPr id="124" name="Group 62">
            <a:extLst>
              <a:ext uri="{FF2B5EF4-FFF2-40B4-BE49-F238E27FC236}">
                <a16:creationId xmlns:a16="http://schemas.microsoft.com/office/drawing/2014/main" id="{523B8FA6-4A62-0F8C-4B02-77D90C62A8EB}"/>
              </a:ext>
            </a:extLst>
          </p:cNvPr>
          <p:cNvGrpSpPr/>
          <p:nvPr/>
        </p:nvGrpSpPr>
        <p:grpSpPr>
          <a:xfrm>
            <a:off x="5723497" y="4805882"/>
            <a:ext cx="549069" cy="658115"/>
            <a:chOff x="0" y="0"/>
            <a:chExt cx="732092" cy="877487"/>
          </a:xfrm>
        </p:grpSpPr>
        <p:sp>
          <p:nvSpPr>
            <p:cNvPr id="125" name="Freeform 63">
              <a:extLst>
                <a:ext uri="{FF2B5EF4-FFF2-40B4-BE49-F238E27FC236}">
                  <a16:creationId xmlns:a16="http://schemas.microsoft.com/office/drawing/2014/main" id="{BA1C569C-7BCE-6D13-4245-DE5180E1B8FC}"/>
                </a:ext>
              </a:extLst>
            </p:cNvPr>
            <p:cNvSpPr/>
            <p:nvPr/>
          </p:nvSpPr>
          <p:spPr>
            <a:xfrm>
              <a:off x="0" y="0"/>
              <a:ext cx="732092" cy="877482"/>
            </a:xfrm>
            <a:custGeom>
              <a:avLst/>
              <a:gdLst/>
              <a:ahLst/>
              <a:cxnLst/>
              <a:rect l="l" t="t" r="r" b="b"/>
              <a:pathLst>
                <a:path w="732092" h="877482">
                  <a:moveTo>
                    <a:pt x="0" y="0"/>
                  </a:moveTo>
                  <a:lnTo>
                    <a:pt x="732092" y="0"/>
                  </a:lnTo>
                  <a:lnTo>
                    <a:pt x="732092" y="877482"/>
                  </a:lnTo>
                  <a:lnTo>
                    <a:pt x="0" y="877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4342" r="-94342" b="613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" name="TextBox 64">
              <a:extLst>
                <a:ext uri="{FF2B5EF4-FFF2-40B4-BE49-F238E27FC236}">
                  <a16:creationId xmlns:a16="http://schemas.microsoft.com/office/drawing/2014/main" id="{D2DDD30F-B2FB-B880-5B0F-989DAFF51390}"/>
                </a:ext>
              </a:extLst>
            </p:cNvPr>
            <p:cNvSpPr txBox="1"/>
            <p:nvPr/>
          </p:nvSpPr>
          <p:spPr>
            <a:xfrm>
              <a:off x="0" y="-66675"/>
              <a:ext cx="732092" cy="944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5" dirty="0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127" name="Group 65">
            <a:extLst>
              <a:ext uri="{FF2B5EF4-FFF2-40B4-BE49-F238E27FC236}">
                <a16:creationId xmlns:a16="http://schemas.microsoft.com/office/drawing/2014/main" id="{CF6E9F02-FCA9-E99D-244D-BB63A0AE6D61}"/>
              </a:ext>
            </a:extLst>
          </p:cNvPr>
          <p:cNvGrpSpPr/>
          <p:nvPr/>
        </p:nvGrpSpPr>
        <p:grpSpPr>
          <a:xfrm>
            <a:off x="11076919" y="4805882"/>
            <a:ext cx="549069" cy="658115"/>
            <a:chOff x="0" y="0"/>
            <a:chExt cx="732092" cy="877487"/>
          </a:xfrm>
        </p:grpSpPr>
        <p:sp>
          <p:nvSpPr>
            <p:cNvPr id="128" name="Freeform 66">
              <a:extLst>
                <a:ext uri="{FF2B5EF4-FFF2-40B4-BE49-F238E27FC236}">
                  <a16:creationId xmlns:a16="http://schemas.microsoft.com/office/drawing/2014/main" id="{0FDED928-0C2D-27EF-F539-733CE51BDAAB}"/>
                </a:ext>
              </a:extLst>
            </p:cNvPr>
            <p:cNvSpPr/>
            <p:nvPr/>
          </p:nvSpPr>
          <p:spPr>
            <a:xfrm>
              <a:off x="0" y="0"/>
              <a:ext cx="732092" cy="877482"/>
            </a:xfrm>
            <a:custGeom>
              <a:avLst/>
              <a:gdLst/>
              <a:ahLst/>
              <a:cxnLst/>
              <a:rect l="l" t="t" r="r" b="b"/>
              <a:pathLst>
                <a:path w="732092" h="877482">
                  <a:moveTo>
                    <a:pt x="0" y="0"/>
                  </a:moveTo>
                  <a:lnTo>
                    <a:pt x="732092" y="0"/>
                  </a:lnTo>
                  <a:lnTo>
                    <a:pt x="732092" y="877482"/>
                  </a:lnTo>
                  <a:lnTo>
                    <a:pt x="0" y="877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4342" r="-94342" b="613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" name="TextBox 67">
              <a:extLst>
                <a:ext uri="{FF2B5EF4-FFF2-40B4-BE49-F238E27FC236}">
                  <a16:creationId xmlns:a16="http://schemas.microsoft.com/office/drawing/2014/main" id="{C2E149F3-0570-3501-1989-A16C667F5DCB}"/>
                </a:ext>
              </a:extLst>
            </p:cNvPr>
            <p:cNvSpPr txBox="1"/>
            <p:nvPr/>
          </p:nvSpPr>
          <p:spPr>
            <a:xfrm>
              <a:off x="0" y="-66675"/>
              <a:ext cx="732092" cy="944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5" dirty="0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130" name="Group 68">
            <a:extLst>
              <a:ext uri="{FF2B5EF4-FFF2-40B4-BE49-F238E27FC236}">
                <a16:creationId xmlns:a16="http://schemas.microsoft.com/office/drawing/2014/main" id="{71175D73-89FF-A1A0-971C-EEF82E0820B8}"/>
              </a:ext>
            </a:extLst>
          </p:cNvPr>
          <p:cNvGrpSpPr/>
          <p:nvPr/>
        </p:nvGrpSpPr>
        <p:grpSpPr>
          <a:xfrm>
            <a:off x="1216819" y="7971648"/>
            <a:ext cx="15854362" cy="1235402"/>
            <a:chOff x="0" y="0"/>
            <a:chExt cx="21139150" cy="1647203"/>
          </a:xfrm>
        </p:grpSpPr>
        <p:sp>
          <p:nvSpPr>
            <p:cNvPr id="131" name="Freeform 69">
              <a:extLst>
                <a:ext uri="{FF2B5EF4-FFF2-40B4-BE49-F238E27FC236}">
                  <a16:creationId xmlns:a16="http://schemas.microsoft.com/office/drawing/2014/main" id="{917E8F99-0988-BC2E-0A0C-17928B329E67}"/>
                </a:ext>
              </a:extLst>
            </p:cNvPr>
            <p:cNvSpPr/>
            <p:nvPr/>
          </p:nvSpPr>
          <p:spPr>
            <a:xfrm>
              <a:off x="0" y="0"/>
              <a:ext cx="21139150" cy="1647317"/>
            </a:xfrm>
            <a:custGeom>
              <a:avLst/>
              <a:gdLst/>
              <a:ahLst/>
              <a:cxnLst/>
              <a:rect l="l" t="t" r="r" b="b"/>
              <a:pathLst>
                <a:path w="21139150" h="1647317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20864576" y="0"/>
                  </a:lnTo>
                  <a:cubicBezTo>
                    <a:pt x="21016215" y="0"/>
                    <a:pt x="21139150" y="122936"/>
                    <a:pt x="21139150" y="274574"/>
                  </a:cubicBezTo>
                  <a:lnTo>
                    <a:pt x="21139150" y="1372743"/>
                  </a:lnTo>
                  <a:cubicBezTo>
                    <a:pt x="21139150" y="1524381"/>
                    <a:pt x="21016215" y="1647317"/>
                    <a:pt x="20864576" y="1647317"/>
                  </a:cubicBezTo>
                  <a:lnTo>
                    <a:pt x="274574" y="1647317"/>
                  </a:lnTo>
                  <a:cubicBezTo>
                    <a:pt x="122936" y="1647190"/>
                    <a:pt x="0" y="1524254"/>
                    <a:pt x="0" y="1372616"/>
                  </a:cubicBezTo>
                  <a:close/>
                </a:path>
              </a:pathLst>
            </a:custGeom>
            <a:solidFill>
              <a:srgbClr val="13304C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32" name="Group 70">
            <a:extLst>
              <a:ext uri="{FF2B5EF4-FFF2-40B4-BE49-F238E27FC236}">
                <a16:creationId xmlns:a16="http://schemas.microsoft.com/office/drawing/2014/main" id="{959A19C0-E89D-0D6B-06C7-17FB1FD28440}"/>
              </a:ext>
            </a:extLst>
          </p:cNvPr>
          <p:cNvGrpSpPr/>
          <p:nvPr/>
        </p:nvGrpSpPr>
        <p:grpSpPr>
          <a:xfrm>
            <a:off x="1587447" y="8095187"/>
            <a:ext cx="15099392" cy="960872"/>
            <a:chOff x="0" y="0"/>
            <a:chExt cx="20132523" cy="1281163"/>
          </a:xfrm>
        </p:grpSpPr>
        <p:sp>
          <p:nvSpPr>
            <p:cNvPr id="133" name="Freeform 71">
              <a:extLst>
                <a:ext uri="{FF2B5EF4-FFF2-40B4-BE49-F238E27FC236}">
                  <a16:creationId xmlns:a16="http://schemas.microsoft.com/office/drawing/2014/main" id="{930F9E21-94A9-83D5-0E81-6F9DD07FEC3A}"/>
                </a:ext>
              </a:extLst>
            </p:cNvPr>
            <p:cNvSpPr/>
            <p:nvPr/>
          </p:nvSpPr>
          <p:spPr>
            <a:xfrm>
              <a:off x="0" y="0"/>
              <a:ext cx="20132529" cy="1281161"/>
            </a:xfrm>
            <a:custGeom>
              <a:avLst/>
              <a:gdLst/>
              <a:ahLst/>
              <a:cxnLst/>
              <a:rect l="l" t="t" r="r" b="b"/>
              <a:pathLst>
                <a:path w="20132529" h="1281161">
                  <a:moveTo>
                    <a:pt x="0" y="0"/>
                  </a:moveTo>
                  <a:lnTo>
                    <a:pt x="20132529" y="0"/>
                  </a:lnTo>
                  <a:lnTo>
                    <a:pt x="2013252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6193" b="-25619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" name="TextBox 72">
              <a:extLst>
                <a:ext uri="{FF2B5EF4-FFF2-40B4-BE49-F238E27FC236}">
                  <a16:creationId xmlns:a16="http://schemas.microsoft.com/office/drawing/2014/main" id="{E59B6E67-3B5D-C63A-55DF-5552806DA07F}"/>
                </a:ext>
              </a:extLst>
            </p:cNvPr>
            <p:cNvSpPr txBox="1"/>
            <p:nvPr/>
          </p:nvSpPr>
          <p:spPr>
            <a:xfrm>
              <a:off x="0" y="-57150"/>
              <a:ext cx="20132523" cy="13383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逐構面覆核</a:t>
              </a:r>
              <a:r>
                <a:rPr lang="en-US" sz="2702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  ｜  </a:t>
              </a:r>
              <a:r>
                <a:rPr lang="en-US" sz="2702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不自動覆寫</a:t>
              </a:r>
              <a:r>
                <a:rPr lang="en-US" sz="2702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  ｜  </a:t>
              </a:r>
              <a:r>
                <a:rPr lang="en-US" sz="2702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 (MS) Bold"/>
                  <a:sym typeface="Calibri (MS) Bold"/>
                </a:rPr>
                <a:t>保留人類決策權</a:t>
              </a:r>
              <a:endParaRPr lang="en-US" sz="2702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(MS) Bold"/>
                <a:sym typeface="Calibri (MS)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435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F4641-FA9E-6DC0-9D30-B44E657F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C13B84-FB80-E663-32CE-007BAD4CCD3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1D51813-52EF-53D5-A791-6378B0A74123}"/>
              </a:ext>
            </a:extLst>
          </p:cNvPr>
          <p:cNvSpPr/>
          <p:nvPr/>
        </p:nvSpPr>
        <p:spPr>
          <a:xfrm flipH="1">
            <a:off x="9144000" y="0"/>
            <a:ext cx="10581061" cy="10611206"/>
          </a:xfrm>
          <a:custGeom>
            <a:avLst/>
            <a:gdLst/>
            <a:ahLst/>
            <a:cxnLst/>
            <a:rect l="l" t="t" r="r" b="b"/>
            <a:pathLst>
              <a:path w="10581061" h="10611206">
                <a:moveTo>
                  <a:pt x="10581061" y="0"/>
                </a:moveTo>
                <a:lnTo>
                  <a:pt x="0" y="0"/>
                </a:lnTo>
                <a:lnTo>
                  <a:pt x="0" y="10611206"/>
                </a:lnTo>
                <a:lnTo>
                  <a:pt x="10581061" y="10611206"/>
                </a:lnTo>
                <a:lnTo>
                  <a:pt x="1058106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0C906F1-E33E-3283-89C0-D2D73F00E35F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6CEC549-E234-60CB-4DB1-517DA47000DF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FF7B47E-B5B4-3640-5836-CCFA048EF0AF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17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5DC3A7-E488-FD7B-BC3B-BDFBB829469D}"/>
              </a:ext>
            </a:extLst>
          </p:cNvPr>
          <p:cNvSpPr txBox="1"/>
          <p:nvPr/>
        </p:nvSpPr>
        <p:spPr>
          <a:xfrm>
            <a:off x="5589539" y="4610278"/>
            <a:ext cx="7108923" cy="13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altLang="zh-TW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6</a:t>
            </a: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.</a:t>
            </a:r>
            <a:r>
              <a:rPr lang="zh-TW" alt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 Bold"/>
                <a:sym typeface="Poppins Bold"/>
              </a:rPr>
              <a:t>未來發展</a:t>
            </a:r>
            <a:endParaRPr lang="en-US" sz="8000" b="1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 Bold"/>
              <a:sym typeface="Poppins Bo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2A75263-3A82-A320-8F35-45904A63CEB5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</p:spTree>
    <p:extLst>
      <p:ext uri="{BB962C8B-B14F-4D97-AF65-F5344CB8AC3E}">
        <p14:creationId xmlns:p14="http://schemas.microsoft.com/office/powerpoint/2010/main" val="1468744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6826B-03E9-A4DE-2318-A5D60EF4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F42600-7F33-39AA-6AC7-8CFAB814A0C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4DF7891-5F71-DF31-0731-C85822173B91}"/>
              </a:ext>
            </a:extLst>
          </p:cNvPr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BD3164-9059-C501-9AD1-1ADC9B06C1EF}"/>
              </a:ext>
            </a:extLst>
          </p:cNvPr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DC403DF-1EC0-2883-F2E5-17BCCF6729DF}"/>
              </a:ext>
            </a:extLst>
          </p:cNvPr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18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F01889-47CD-F59A-B03F-EBA07D9B0811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73" name="Freeform 11">
            <a:extLst>
              <a:ext uri="{FF2B5EF4-FFF2-40B4-BE49-F238E27FC236}">
                <a16:creationId xmlns:a16="http://schemas.microsoft.com/office/drawing/2014/main" id="{A0562F36-FD78-9790-7986-E2057775B895}"/>
              </a:ext>
            </a:extLst>
          </p:cNvPr>
          <p:cNvSpPr/>
          <p:nvPr/>
        </p:nvSpPr>
        <p:spPr>
          <a:xfrm>
            <a:off x="1028700" y="1904969"/>
            <a:ext cx="16609337" cy="809414"/>
          </a:xfrm>
          <a:custGeom>
            <a:avLst/>
            <a:gdLst/>
            <a:ahLst/>
            <a:cxnLst/>
            <a:rect l="l" t="t" r="r" b="b"/>
            <a:pathLst>
              <a:path w="22145782" h="1079218">
                <a:moveTo>
                  <a:pt x="0" y="0"/>
                </a:moveTo>
                <a:lnTo>
                  <a:pt x="22145782" y="0"/>
                </a:lnTo>
                <a:lnTo>
                  <a:pt x="22145782" y="1079218"/>
                </a:lnTo>
                <a:lnTo>
                  <a:pt x="0" y="1079218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t="-355743" b="-343930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6EB59BF6-654E-EB3F-93DA-BC74579E293A}"/>
              </a:ext>
            </a:extLst>
          </p:cNvPr>
          <p:cNvSpPr txBox="1"/>
          <p:nvPr/>
        </p:nvSpPr>
        <p:spPr>
          <a:xfrm>
            <a:off x="1574843" y="3601965"/>
            <a:ext cx="15087600" cy="2938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ts val="8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TW" altLang="en-US" sz="4000" spc="-264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持續完善 </a:t>
            </a:r>
            <a:r>
              <a:rPr lang="en-US" altLang="zh-TW" sz="4000" spc="-264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CVE </a:t>
            </a:r>
            <a:r>
              <a:rPr lang="zh-TW" altLang="en-US" sz="4000" spc="-264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漏洞資訊更新與應用。</a:t>
            </a:r>
          </a:p>
          <a:p>
            <a:pPr marL="457200" lvl="0" indent="-457200" algn="l">
              <a:lnSpc>
                <a:spcPts val="8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TW" altLang="en-US" sz="4000" spc="-264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強化改善建議的依據與內容品質。</a:t>
            </a:r>
          </a:p>
          <a:p>
            <a:pPr marL="457200" lvl="0" indent="-457200" algn="l">
              <a:lnSpc>
                <a:spcPts val="8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TW" altLang="en-US" sz="4000" spc="-264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王漢宗特黑體"/>
                <a:sym typeface="王漢宗特黑體"/>
              </a:rPr>
              <a:t>擴充測試案例，評估不同情境下的評值表現。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988050F7-646C-8779-B576-7718E97F82E5}"/>
              </a:ext>
            </a:extLst>
          </p:cNvPr>
          <p:cNvSpPr txBox="1"/>
          <p:nvPr/>
        </p:nvSpPr>
        <p:spPr>
          <a:xfrm>
            <a:off x="1028700" y="2186235"/>
            <a:ext cx="8890427" cy="75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8"/>
              </a:lnSpc>
              <a:spcBef>
                <a:spcPct val="0"/>
              </a:spcBef>
            </a:pPr>
            <a:r>
              <a:rPr lang="zh-TW" altLang="en-US" sz="6000" cap="all" spc="-299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Norwester"/>
                <a:sym typeface="Norwester"/>
              </a:rPr>
              <a:t>未來發展</a:t>
            </a:r>
            <a:endParaRPr lang="en-US" sz="6000" cap="all" spc="-299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Norwester"/>
              <a:sym typeface="Norwester"/>
            </a:endParaRPr>
          </a:p>
        </p:txBody>
      </p:sp>
    </p:spTree>
    <p:extLst>
      <p:ext uri="{BB962C8B-B14F-4D97-AF65-F5344CB8AC3E}">
        <p14:creationId xmlns:p14="http://schemas.microsoft.com/office/powerpoint/2010/main" val="1038744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257248" y="1921676"/>
            <a:ext cx="9323757" cy="8144109"/>
          </a:xfrm>
          <a:custGeom>
            <a:avLst/>
            <a:gdLst/>
            <a:ahLst/>
            <a:cxnLst/>
            <a:rect l="l" t="t" r="r" b="b"/>
            <a:pathLst>
              <a:path w="9323757" h="8144109">
                <a:moveTo>
                  <a:pt x="0" y="0"/>
                </a:moveTo>
                <a:lnTo>
                  <a:pt x="9323757" y="0"/>
                </a:lnTo>
                <a:lnTo>
                  <a:pt x="9323757" y="8144109"/>
                </a:lnTo>
                <a:lnTo>
                  <a:pt x="0" y="8144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1028700" y="2186235"/>
            <a:ext cx="8890427" cy="75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8"/>
              </a:lnSpc>
              <a:spcBef>
                <a:spcPct val="0"/>
              </a:spcBef>
            </a:pPr>
            <a:r>
              <a:rPr lang="en-US" sz="6000" cap="all" spc="-299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Norwester"/>
                <a:sym typeface="Norwester"/>
              </a:rPr>
              <a:t>工作分配</a:t>
            </a:r>
            <a:endParaRPr lang="en-US" sz="6000" cap="all" spc="-299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Norwester"/>
              <a:sym typeface="Norwest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cap="all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cap="all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19</a:t>
            </a:r>
            <a:endParaRPr lang="en-US" sz="2021" cap="all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83BD2896-EEF0-AB96-FA2A-8D4AC2179BDF}"/>
              </a:ext>
            </a:extLst>
          </p:cNvPr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756" r="-60228" b="-4212"/>
            </a:stretch>
          </a:blipFill>
        </p:spPr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769B4874-2DFC-C791-DFD5-96F4FC5915AB}"/>
              </a:ext>
            </a:extLst>
          </p:cNvPr>
          <p:cNvSpPr txBox="1"/>
          <p:nvPr/>
        </p:nvSpPr>
        <p:spPr>
          <a:xfrm>
            <a:off x="1574843" y="1013927"/>
            <a:ext cx="2922953" cy="33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56" r="-60228" b="-421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901333" y="187075"/>
            <a:ext cx="8392003" cy="9912849"/>
          </a:xfrm>
          <a:custGeom>
            <a:avLst/>
            <a:gdLst/>
            <a:ahLst/>
            <a:cxnLst/>
            <a:rect l="l" t="t" r="r" b="b"/>
            <a:pathLst>
              <a:path w="8392003" h="9912849">
                <a:moveTo>
                  <a:pt x="0" y="0"/>
                </a:moveTo>
                <a:lnTo>
                  <a:pt x="8392003" y="0"/>
                </a:lnTo>
                <a:lnTo>
                  <a:pt x="8392003" y="9912848"/>
                </a:lnTo>
                <a:lnTo>
                  <a:pt x="0" y="991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186235"/>
            <a:ext cx="8890427" cy="75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8"/>
              </a:lnSpc>
              <a:spcBef>
                <a:spcPct val="0"/>
              </a:spcBef>
            </a:pPr>
            <a:r>
              <a:rPr lang="en-US" sz="6000" spc="-299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Norwester"/>
                <a:sym typeface="Norwester"/>
              </a:rPr>
              <a:t>GITHUB </a:t>
            </a:r>
            <a:r>
              <a:rPr lang="en-US" sz="6000" spc="-299" dirty="0" err="1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Norwester"/>
                <a:sym typeface="Norwester"/>
              </a:rPr>
              <a:t>紀錄</a:t>
            </a:r>
            <a:endParaRPr lang="en-US" sz="6000" spc="-299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Norwester"/>
              <a:sym typeface="Norwest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</a:t>
            </a:r>
            <a:r>
              <a:rPr lang="en-US" altLang="zh-TW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20</a:t>
            </a:r>
            <a:endParaRPr lang="en-US" sz="2021" spc="-88" dirty="0">
              <a:solidFill>
                <a:srgbClr val="FFFFFF"/>
              </a:solidFill>
              <a:latin typeface="Arial" panose="020B0604020202020204" pitchFamily="34" charset="0"/>
              <a:ea typeface="微軟正黑體" panose="020B0604030504040204" pitchFamily="34" charset="-120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70046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1340885" y="5505450"/>
            <a:ext cx="5838682" cy="5855316"/>
          </a:xfrm>
          <a:custGeom>
            <a:avLst/>
            <a:gdLst/>
            <a:ahLst/>
            <a:cxnLst/>
            <a:rect l="l" t="t" r="r" b="b"/>
            <a:pathLst>
              <a:path w="5838682" h="5855316">
                <a:moveTo>
                  <a:pt x="0" y="0"/>
                </a:moveTo>
                <a:lnTo>
                  <a:pt x="5838681" y="0"/>
                </a:lnTo>
                <a:lnTo>
                  <a:pt x="5838681" y="5855316"/>
                </a:lnTo>
                <a:lnTo>
                  <a:pt x="0" y="5855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558746" y="5505450"/>
            <a:ext cx="5838682" cy="5855316"/>
          </a:xfrm>
          <a:custGeom>
            <a:avLst/>
            <a:gdLst/>
            <a:ahLst/>
            <a:cxnLst/>
            <a:rect l="l" t="t" r="r" b="b"/>
            <a:pathLst>
              <a:path w="5838682" h="5855316">
                <a:moveTo>
                  <a:pt x="5838681" y="0"/>
                </a:moveTo>
                <a:lnTo>
                  <a:pt x="0" y="0"/>
                </a:lnTo>
                <a:lnTo>
                  <a:pt x="0" y="5855316"/>
                </a:lnTo>
                <a:lnTo>
                  <a:pt x="5838681" y="5855316"/>
                </a:lnTo>
                <a:lnTo>
                  <a:pt x="5838681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01144" y="4299903"/>
            <a:ext cx="13685712" cy="2122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339"/>
              </a:lnSpc>
              <a:spcBef>
                <a:spcPct val="0"/>
              </a:spcBef>
            </a:pPr>
            <a:r>
              <a:rPr lang="en-US" sz="15000" b="1" spc="-835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Norwester"/>
                <a:sym typeface="Norwester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4843" y="1013927"/>
            <a:ext cx="2922953" cy="3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RiskGenie評評理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96873" y="1024004"/>
            <a:ext cx="156242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0"/>
              </a:lnSpc>
              <a:spcBef>
                <a:spcPct val="0"/>
              </a:spcBef>
            </a:pPr>
            <a:r>
              <a:rPr lang="en-US" sz="2021" spc="-88" dirty="0">
                <a:solidFill>
                  <a:srgbClr val="FFFF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Poppins"/>
                <a:sym typeface="Poppins"/>
              </a:rPr>
              <a:t>PAGE 19</a:t>
            </a:r>
          </a:p>
        </p:txBody>
      </p:sp>
      <p:sp>
        <p:nvSpPr>
          <p:cNvPr id="9" name="Freeform 9"/>
          <p:cNvSpPr/>
          <p:nvPr/>
        </p:nvSpPr>
        <p:spPr>
          <a:xfrm>
            <a:off x="806232" y="783285"/>
            <a:ext cx="768611" cy="917175"/>
          </a:xfrm>
          <a:custGeom>
            <a:avLst/>
            <a:gdLst/>
            <a:ahLst/>
            <a:cxnLst/>
            <a:rect l="l" t="t" r="r" b="b"/>
            <a:pathLst>
              <a:path w="768611" h="917175">
                <a:moveTo>
                  <a:pt x="0" y="0"/>
                </a:moveTo>
                <a:lnTo>
                  <a:pt x="768611" y="0"/>
                </a:lnTo>
                <a:lnTo>
                  <a:pt x="768611" y="917175"/>
                </a:lnTo>
                <a:lnTo>
                  <a:pt x="0" y="91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756" r="-60228" b="-421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569</Words>
  <Application>Microsoft Office PowerPoint</Application>
  <PresentationFormat>自訂</PresentationFormat>
  <Paragraphs>175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Calibri</vt:lpstr>
      <vt:lpstr>Calibri (MS) Bold</vt:lpstr>
      <vt:lpstr>Arial Unicode MS</vt:lpstr>
      <vt:lpstr>Arial</vt:lpstr>
      <vt:lpstr>微軟正黑體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RiskGenie評評理</dc:title>
  <dc:creator>user</dc:creator>
  <cp:lastModifiedBy>user</cp:lastModifiedBy>
  <cp:revision>12</cp:revision>
  <dcterms:created xsi:type="dcterms:W3CDTF">2006-08-16T00:00:00Z</dcterms:created>
  <dcterms:modified xsi:type="dcterms:W3CDTF">2026-10-20T03:38:12Z</dcterms:modified>
  <dc:identifier>DAHLkcQEd3w</dc:identifier>
</cp:coreProperties>
</file>